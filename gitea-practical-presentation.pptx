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3158ac74f648b2" /><Relationship Type="http://schemas.openxmlformats.org/officeDocument/2006/relationships/extended-properties" Target="/docProps/app.xml" Id="R4c3262ccb4184ef8" /><Relationship Type="http://schemas.openxmlformats.org/officeDocument/2006/relationships/officeDocument" Target="/ppt/presentation.xml" Id="Re8ad81d9efcb4f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a69cfee084009"/>
  </p:sldMasterIdLst>
  <p:notesMasterIdLst>
    <p:notesMasterId xmlns:r="http://schemas.openxmlformats.org/officeDocument/2006/relationships" r:id="R415dbcb9cee14ea2"/>
  </p:notesMasterIdLst>
  <p:sldIdLst>
    <p:sldId xmlns:r="http://schemas.openxmlformats.org/officeDocument/2006/relationships" id="256" r:id="R0659f03ab794431a"/>
    <p:sldId xmlns:r="http://schemas.openxmlformats.org/officeDocument/2006/relationships" id="257" r:id="R8fa045c2ec9e487c"/>
    <p:sldId xmlns:r="http://schemas.openxmlformats.org/officeDocument/2006/relationships" id="258" r:id="R53b074d355734cd8"/>
    <p:sldId xmlns:r="http://schemas.openxmlformats.org/officeDocument/2006/relationships" id="259" r:id="R8d7963e674fd44ad"/>
    <p:sldId xmlns:r="http://schemas.openxmlformats.org/officeDocument/2006/relationships" id="260" r:id="R82ef42a59254453c"/>
    <p:sldId xmlns:r="http://schemas.openxmlformats.org/officeDocument/2006/relationships" id="261" r:id="Rfeefca66a2484340"/>
    <p:sldId xmlns:r="http://schemas.openxmlformats.org/officeDocument/2006/relationships" id="262" r:id="Refb377c69aeb4ced"/>
    <p:sldId xmlns:r="http://schemas.openxmlformats.org/officeDocument/2006/relationships" id="263" r:id="R1282b87d873e4eff"/>
    <p:sldId xmlns:r="http://schemas.openxmlformats.org/officeDocument/2006/relationships" id="264" r:id="R9e55d8c6f6e24525"/>
    <p:sldId xmlns:r="http://schemas.openxmlformats.org/officeDocument/2006/relationships" id="265" r:id="Rc2d094af549e45b5"/>
    <p:sldId xmlns:r="http://schemas.openxmlformats.org/officeDocument/2006/relationships" id="266" r:id="R53f7c3daf2044cea"/>
    <p:sldId xmlns:r="http://schemas.openxmlformats.org/officeDocument/2006/relationships" id="267" r:id="Rdca0cdb62146443e"/>
    <p:sldId xmlns:r="http://schemas.openxmlformats.org/officeDocument/2006/relationships" id="268" r:id="R3b1f8628e9094e2f"/>
    <p:sldId xmlns:r="http://schemas.openxmlformats.org/officeDocument/2006/relationships" id="269" r:id="R9562db2de9e0405e"/>
    <p:sldId xmlns:r="http://schemas.openxmlformats.org/officeDocument/2006/relationships" id="270" r:id="R58771857412840f5"/>
    <p:sldId xmlns:r="http://schemas.openxmlformats.org/officeDocument/2006/relationships" id="271" r:id="Re6dfe6be7ebf4c71"/>
    <p:sldId xmlns:r="http://schemas.openxmlformats.org/officeDocument/2006/relationships" id="272" r:id="R88acbc8569a34af5"/>
    <p:sldId xmlns:r="http://schemas.openxmlformats.org/officeDocument/2006/relationships" id="273" r:id="R75b93d0ff7a649cb"/>
    <p:sldId xmlns:r="http://schemas.openxmlformats.org/officeDocument/2006/relationships" id="274" r:id="Rccb3cd80dcc24bbe"/>
    <p:sldId xmlns:r="http://schemas.openxmlformats.org/officeDocument/2006/relationships" id="275" r:id="R3855fc84da9640a9"/>
    <p:sldId xmlns:r="http://schemas.openxmlformats.org/officeDocument/2006/relationships" id="276" r:id="Rd8efbce77c6543a4"/>
    <p:sldId xmlns:r="http://schemas.openxmlformats.org/officeDocument/2006/relationships" id="277" r:id="R05272e6f6b4c4d7a"/>
    <p:sldId xmlns:r="http://schemas.openxmlformats.org/officeDocument/2006/relationships" id="278" r:id="R6ea0825942be4b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5c5813c1a4f54" /><Relationship Type="http://schemas.openxmlformats.org/officeDocument/2006/relationships/slideMaster" Target="/ppt/slideMasters/slideMaster1.xml" Id="R167a69cfee084009" /><Relationship Type="http://schemas.openxmlformats.org/officeDocument/2006/relationships/notesMaster" Target="/ppt/notesMasters/notesMaster1.xml" Id="R415dbcb9cee14ea2" /><Relationship Type="http://schemas.openxmlformats.org/officeDocument/2006/relationships/presProps" Target="/ppt/presProps.xml" Id="R644cd5ce22dd46e8" /><Relationship Type="http://schemas.openxmlformats.org/officeDocument/2006/relationships/tableStyles" Target="/ppt/tableStyles.xml" Id="Rc6bb069345fa48cb" /><Relationship Type="http://schemas.openxmlformats.org/officeDocument/2006/relationships/slide" Target="/ppt/slides/slide1.xml" Id="R0659f03ab794431a" /><Relationship Type="http://schemas.openxmlformats.org/officeDocument/2006/relationships/slide" Target="/ppt/slides/slide2.xml" Id="R8fa045c2ec9e487c" /><Relationship Type="http://schemas.openxmlformats.org/officeDocument/2006/relationships/slide" Target="/ppt/slides/slide3.xml" Id="R53b074d355734cd8" /><Relationship Type="http://schemas.openxmlformats.org/officeDocument/2006/relationships/slide" Target="/ppt/slides/slide4.xml" Id="R8d7963e674fd44ad" /><Relationship Type="http://schemas.openxmlformats.org/officeDocument/2006/relationships/slide" Target="/ppt/slides/slide5.xml" Id="R82ef42a59254453c" /><Relationship Type="http://schemas.openxmlformats.org/officeDocument/2006/relationships/slide" Target="/ppt/slides/slide6.xml" Id="Rfeefca66a2484340" /><Relationship Type="http://schemas.openxmlformats.org/officeDocument/2006/relationships/slide" Target="/ppt/slides/slide7.xml" Id="Refb377c69aeb4ced" /><Relationship Type="http://schemas.openxmlformats.org/officeDocument/2006/relationships/slide" Target="/ppt/slides/slide8.xml" Id="R1282b87d873e4eff" /><Relationship Type="http://schemas.openxmlformats.org/officeDocument/2006/relationships/slide" Target="/ppt/slides/slide9.xml" Id="R9e55d8c6f6e24525" /><Relationship Type="http://schemas.openxmlformats.org/officeDocument/2006/relationships/slide" Target="/ppt/slides/slide10.xml" Id="Rc2d094af549e45b5" /><Relationship Type="http://schemas.openxmlformats.org/officeDocument/2006/relationships/slide" Target="/ppt/slides/slide11.xml" Id="R53f7c3daf2044cea" /><Relationship Type="http://schemas.openxmlformats.org/officeDocument/2006/relationships/slide" Target="/ppt/slides/slide12.xml" Id="Rdca0cdb62146443e" /><Relationship Type="http://schemas.openxmlformats.org/officeDocument/2006/relationships/slide" Target="/ppt/slides/slide13.xml" Id="R3b1f8628e9094e2f" /><Relationship Type="http://schemas.openxmlformats.org/officeDocument/2006/relationships/slide" Target="/ppt/slides/slide14.xml" Id="R9562db2de9e0405e" /><Relationship Type="http://schemas.openxmlformats.org/officeDocument/2006/relationships/slide" Target="/ppt/slides/slide15.xml" Id="R58771857412840f5" /><Relationship Type="http://schemas.openxmlformats.org/officeDocument/2006/relationships/slide" Target="/ppt/slides/slide16.xml" Id="Re6dfe6be7ebf4c71" /><Relationship Type="http://schemas.openxmlformats.org/officeDocument/2006/relationships/slide" Target="/ppt/slides/slide17.xml" Id="R88acbc8569a34af5" /><Relationship Type="http://schemas.openxmlformats.org/officeDocument/2006/relationships/slide" Target="/ppt/slides/slide18.xml" Id="R75b93d0ff7a649cb" /><Relationship Type="http://schemas.openxmlformats.org/officeDocument/2006/relationships/slide" Target="/ppt/slides/slide19.xml" Id="Rccb3cd80dcc24bbe" /><Relationship Type="http://schemas.openxmlformats.org/officeDocument/2006/relationships/slide" Target="/ppt/slides/slide20.xml" Id="R3855fc84da9640a9" /><Relationship Type="http://schemas.openxmlformats.org/officeDocument/2006/relationships/slide" Target="/ppt/slides/slide21.xml" Id="Rd8efbce77c6543a4" /><Relationship Type="http://schemas.openxmlformats.org/officeDocument/2006/relationships/slide" Target="/ppt/slides/slide22.xml" Id="R05272e6f6b4c4d7a" /><Relationship Type="http://schemas.openxmlformats.org/officeDocument/2006/relationships/slide" Target="/ppt/slides/slide23.xml" Id="R6ea0825942be4b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074e2522a14c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909b4766da4ffe" /><Relationship Type="http://schemas.openxmlformats.org/officeDocument/2006/relationships/notesMaster" Target="/ppt/notesMasters/notesMaster1.xml" Id="Rc18e9490546b49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9168a511fe4c3d" /><Relationship Type="http://schemas.openxmlformats.org/officeDocument/2006/relationships/notesMaster" Target="/ppt/notesMasters/notesMaster1.xml" Id="R26df00e1b2e7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985389a034fe6" /><Relationship Type="http://schemas.openxmlformats.org/officeDocument/2006/relationships/notesMaster" Target="/ppt/notesMasters/notesMaster1.xml" Id="Rd98f360f55af40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1a6a7ab7874ccd" /><Relationship Type="http://schemas.openxmlformats.org/officeDocument/2006/relationships/notesMaster" Target="/ppt/notesMasters/notesMaster1.xml" Id="R2620ea887c52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4037dc4eaa46db" /><Relationship Type="http://schemas.openxmlformats.org/officeDocument/2006/relationships/notesMaster" Target="/ppt/notesMasters/notesMaster1.xml" Id="R45eaa96c1d9e43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984d70a7a14fbc" /><Relationship Type="http://schemas.openxmlformats.org/officeDocument/2006/relationships/notesMaster" Target="/ppt/notesMasters/notesMaster1.xml" Id="R6454e7a5855043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0a736524414fca" /><Relationship Type="http://schemas.openxmlformats.org/officeDocument/2006/relationships/notesMaster" Target="/ppt/notesMasters/notesMaster1.xml" Id="R2e2b3f9b563a48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5302a64b4e4321" /><Relationship Type="http://schemas.openxmlformats.org/officeDocument/2006/relationships/notesMaster" Target="/ppt/notesMasters/notesMaster1.xml" Id="R638f41d7c1234a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7d8bd7be69499b" /><Relationship Type="http://schemas.openxmlformats.org/officeDocument/2006/relationships/notesMaster" Target="/ppt/notesMasters/notesMaster1.xml" Id="R905173bdb78c4e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c1e09f5a314546" /><Relationship Type="http://schemas.openxmlformats.org/officeDocument/2006/relationships/notesMaster" Target="/ppt/notesMasters/notesMaster1.xml" Id="Rf76d05156ef540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1cb2ee4406499d" /><Relationship Type="http://schemas.openxmlformats.org/officeDocument/2006/relationships/notesMaster" Target="/ppt/notesMasters/notesMaster1.xml" Id="Rc6c8225f6bb841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2081807c95402b" /><Relationship Type="http://schemas.openxmlformats.org/officeDocument/2006/relationships/notesMaster" Target="/ppt/notesMasters/notesMaster1.xml" Id="R997328f9437a4e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1c4d884cd24383" /><Relationship Type="http://schemas.openxmlformats.org/officeDocument/2006/relationships/notesMaster" Target="/ppt/notesMasters/notesMaster1.xml" Id="Ra084bc2414d640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762fcd18e441cf" /><Relationship Type="http://schemas.openxmlformats.org/officeDocument/2006/relationships/notesMaster" Target="/ppt/notesMasters/notesMaster1.xml" Id="R0de51b16f69247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26579b1ed1487e" /><Relationship Type="http://schemas.openxmlformats.org/officeDocument/2006/relationships/notesMaster" Target="/ppt/notesMasters/notesMaster1.xml" Id="Rc6e4aca808034d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d644a4077c4bfa" /><Relationship Type="http://schemas.openxmlformats.org/officeDocument/2006/relationships/notesMaster" Target="/ppt/notesMasters/notesMaster1.xml" Id="R1d977d3730b049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9f549d72324e8e" /><Relationship Type="http://schemas.openxmlformats.org/officeDocument/2006/relationships/notesMaster" Target="/ppt/notesMasters/notesMaster1.xml" Id="Ra607b2f59efd43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ad29d1bc1a4256" /><Relationship Type="http://schemas.openxmlformats.org/officeDocument/2006/relationships/notesMaster" Target="/ppt/notesMasters/notesMaster1.xml" Id="R1bb65c6aa77a45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a518bf512849a9" /><Relationship Type="http://schemas.openxmlformats.org/officeDocument/2006/relationships/notesMaster" Target="/ppt/notesMasters/notesMaster1.xml" Id="R2fe0eadd346c4a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1b05cda8294b0f" /><Relationship Type="http://schemas.openxmlformats.org/officeDocument/2006/relationships/notesMaster" Target="/ppt/notesMasters/notesMaster1.xml" Id="R24ee595033ba4b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a2c3e6f77346d5" /><Relationship Type="http://schemas.openxmlformats.org/officeDocument/2006/relationships/notesMaster" Target="/ppt/notesMasters/notesMaster1.xml" Id="Rc77cb2fed5e047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e7acaa6928473f" /><Relationship Type="http://schemas.openxmlformats.org/officeDocument/2006/relationships/notesMaster" Target="/ppt/notesMasters/notesMaster1.xml" Id="R4e8b6a498416498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f7f68690574a53" /><Relationship Type="http://schemas.openxmlformats.org/officeDocument/2006/relationships/notesMaster" Target="/ppt/notesMasters/notesMaster1.xml" Id="R23083c5d44f641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practical promise: by the end we will have started Gitea and moved one change through a protected, tested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feature tour. The audience should understand one complete workflow and the operational responsibilities behind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narrative follows the lifecycle of a change, not the navigation menu.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Git remains the storage and transport model. Gitea adds identity, policy, review, automation, and 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demo topology. It is deliberately simple and will be contrasted with production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run the two commands, then show container logs gitea. The image was validated on Apple container 0.5.0 with arm64.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open http://localhost:3000, select SQLite, verify the visible HTTP/SSH ports, and create the admin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organization tea-lab, team developers, and repository hello-gitea. Explain why a personal namespace is not the best long-term home for team repositories.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these commands live. Pause on the push output and use the printed compare link to open the pull request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central mental model for the rest of the talk. Each later feature strengthens one transition in this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pull request, link issue #1, request a small change, push the fix, approve, and merge. Show that the same PR updates automatically after the push.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Configure protection for main. At the end of the practical exercise, prove that a direct push is rejected.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Enable repository Actions and register a Gitea runner before adding the workflow. Start with read-only contents permission.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trust boundary. Pull requests can contain arbitrary code, so runner placement and permissions are security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 generic upload because it requires only curl. Point out that packages belong to a user or organization and can be linked to a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Swagger UI. Show that the API is discoverable on the running instance, then mention webhooks and the tea CLI as alternative integration surfaces.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this with the single-container demo. The key production choices are database, ingress, identity, and storage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critical idea is consistency: repositories, attachments, configuration, and the database describe one state. A successful backup job is not proof until a restore is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turning this into a generic security checklist. Tie each control to a boundary already shown: ingress, identity, branch policy, runner execution, and recoverability.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participants time to perform the workflow. Help only after they have read the push output and repository settings. The stretch goal connects Actions to branch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decision frame honestly. Gitea reduces platform weight, but it does not remove operational responsibility.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promise: the workflow is familiar, the infrastructure is yours, and the audience now knows the path from demo to responsible operation.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for questions and follow-up. All technical claims in the deck are grounded in official Gitea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8b98de17b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c1dfeb587d4b45" /><Relationship Type="http://schemas.openxmlformats.org/officeDocument/2006/relationships/slideLayout" Target="/ppt/slideLayouts/slideLayout1.xml" Id="R7b5a92a98bed4e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5a92a98bed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d83ea9d0843a5" /><Relationship Type="http://schemas.openxmlformats.org/officeDocument/2006/relationships/image" Target="/ppt/media/image.png" Id="R68b2a1b6c2464d66" /><Relationship Type="http://schemas.openxmlformats.org/officeDocument/2006/relationships/notesSlide" Target="/ppt/notesSlides/notesSlide1.xml" Id="R1e5a452c8e4444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826c3225d4931" /><Relationship Type="http://schemas.openxmlformats.org/officeDocument/2006/relationships/notesSlide" Target="/ppt/notesSlides/notesSlide2.xml" Id="Rc8e53a74ed9645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3c83cf9d645e9" /><Relationship Type="http://schemas.openxmlformats.org/officeDocument/2006/relationships/notesSlide" Target="/ppt/notesSlides/notesSlide3.xml" Id="R68ed1519ca284d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ca7c874e54919" /><Relationship Type="http://schemas.openxmlformats.org/officeDocument/2006/relationships/notesSlide" Target="/ppt/notesSlides/notesSlide4.xml" Id="Rde36d16ec18d41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a9311a77b4cd5" /><Relationship Type="http://schemas.openxmlformats.org/officeDocument/2006/relationships/notesSlide" Target="/ppt/notesSlides/notesSlide5.xml" Id="R086e57e8e7d946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4a8290f85460e" /><Relationship Type="http://schemas.openxmlformats.org/officeDocument/2006/relationships/notesSlide" Target="/ppt/notesSlides/notesSlide6.xml" Id="R8b258b4b81fc45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9fa1c0914410e" /><Relationship Type="http://schemas.openxmlformats.org/officeDocument/2006/relationships/notesSlide" Target="/ppt/notesSlides/notesSlide7.xml" Id="R2b331efbd4ae4e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064eff494f4f" /><Relationship Type="http://schemas.openxmlformats.org/officeDocument/2006/relationships/notesSlide" Target="/ppt/notesSlides/notesSlide8.xml" Id="R17eb78e2700b4e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19616deb14f24" /><Relationship Type="http://schemas.openxmlformats.org/officeDocument/2006/relationships/notesSlide" Target="/ppt/notesSlides/notesSlide9.xml" Id="R7abbcee9952345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451f8506b4bc7" /><Relationship Type="http://schemas.openxmlformats.org/officeDocument/2006/relationships/notesSlide" Target="/ppt/notesSlides/notesSlide10.xml" Id="R8553540a5dfd42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d4c842d644e18" /><Relationship Type="http://schemas.openxmlformats.org/officeDocument/2006/relationships/notesSlide" Target="/ppt/notesSlides/notesSlide11.xml" Id="R7d0ccf133ead46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917676c164652" /><Relationship Type="http://schemas.openxmlformats.org/officeDocument/2006/relationships/notesSlide" Target="/ppt/notesSlides/notesSlide12.xml" Id="Ra07964ec010e4c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a536124d44d83" /><Relationship Type="http://schemas.openxmlformats.org/officeDocument/2006/relationships/notesSlide" Target="/ppt/notesSlides/notesSlide13.xml" Id="Rb6186fca5e6d40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49e4cac184e0e" /><Relationship Type="http://schemas.openxmlformats.org/officeDocument/2006/relationships/notesSlide" Target="/ppt/notesSlides/notesSlide14.xml" Id="R626443566a5d45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b0776126a482c" /><Relationship Type="http://schemas.openxmlformats.org/officeDocument/2006/relationships/notesSlide" Target="/ppt/notesSlides/notesSlide15.xml" Id="Rddb10531c10648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a6112ac0c49ef" /><Relationship Type="http://schemas.openxmlformats.org/officeDocument/2006/relationships/notesSlide" Target="/ppt/notesSlides/notesSlide16.xml" Id="Raa5af1107f9844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cf6f91aa94fa7" /><Relationship Type="http://schemas.openxmlformats.org/officeDocument/2006/relationships/notesSlide" Target="/ppt/notesSlides/notesSlide17.xml" Id="R0e7a8a325ef34b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7833633f140cc" /><Relationship Type="http://schemas.openxmlformats.org/officeDocument/2006/relationships/notesSlide" Target="/ppt/notesSlides/notesSlide18.xml" Id="R6a36eb639d8b44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6a161550645e3" /><Relationship Type="http://schemas.openxmlformats.org/officeDocument/2006/relationships/notesSlide" Target="/ppt/notesSlides/notesSlide19.xml" Id="Ra1bb7d6b4b7747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45744203b489e" /><Relationship Type="http://schemas.openxmlformats.org/officeDocument/2006/relationships/notesSlide" Target="/ppt/notesSlides/notesSlide20.xml" Id="R6cfe4df2ed0049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406e27e1c4094" /><Relationship Type="http://schemas.openxmlformats.org/officeDocument/2006/relationships/notesSlide" Target="/ppt/notesSlides/notesSlide21.xml" Id="R0777781d29ac46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abb1e2b974c6c" /><Relationship Type="http://schemas.openxmlformats.org/officeDocument/2006/relationships/image" Target="/ppt/media/image2.png" Id="Rafac352c367f46d3" /><Relationship Type="http://schemas.openxmlformats.org/officeDocument/2006/relationships/notesSlide" Target="/ppt/notesSlides/notesSlide22.xml" Id="Rf55ca403ec4e42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b705d3ffc44f3" /><Relationship Type="http://schemas.openxmlformats.org/officeDocument/2006/relationships/notesSlide" Target="/ppt/notesSlides/notesSlide23.xml" Id="Rca9d03fab35543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01-top-rule">
            <a:extLst xmlns:a="http://schemas.openxmlformats.org/drawingml/2006/main">
              <a:ext uri="{FF2B5EF4-FFF2-40B4-BE49-F238E27FC236}">
                <a16:creationId xmlns:a16="http://schemas.microsoft.com/office/drawing/2014/main" id="{D4C5CCAD-A65E-41F3-8707-96927926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1-date">
            <a:extLst xmlns:a="http://schemas.openxmlformats.org/drawingml/2006/main">
              <a:ext uri="{FF2B5EF4-FFF2-40B4-BE49-F238E27FC236}">
                <a16:creationId xmlns:a16="http://schemas.microsoft.com/office/drawing/2014/main" id="{345BECC5-770B-4D60-9415-67883013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  <p:sp>
        <p:nvSpPr>
          <p:cNvPr id="3" name="s01-title">
            <a:extLst xmlns:a="http://schemas.openxmlformats.org/drawingml/2006/main">
              <a:ext uri="{FF2B5EF4-FFF2-40B4-BE49-F238E27FC236}">
                <a16:creationId xmlns:a16="http://schemas.microsoft.com/office/drawing/2014/main" id="{9976E794-AE99-41B7-92A2-4613C8AF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Gitea in Practice</a:t>
            </a:r>
          </a:p>
        </p:txBody>
      </p:sp>
      <p:sp>
        <p:nvSpPr>
          <p:cNvPr id="4" name="s01-subtitle">
            <a:extLst xmlns:a="http://schemas.openxmlformats.org/drawingml/2006/main">
              <a:ext uri="{FF2B5EF4-FFF2-40B4-BE49-F238E27FC236}">
                <a16:creationId xmlns:a16="http://schemas.microsoft.com/office/drawing/2014/main" id="{484DEC3B-D7DC-4600-A352-839748D5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Run your own collaborative Git service—and complete the whole path from issue to tested merge.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2a1b6c2464d66"/>
          <a:stretch xmlns:a="http://schemas.openxmlformats.org/drawingml/2006/main"/>
        </p:blipFill>
        <p:spPr>
          <a:xfrm xmlns:a="http://schemas.openxmlformats.org/drawingml/2006/main">
            <a:off x="8334375" y="1809750"/>
            <a:ext cx="238125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92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02-top-rule">
            <a:extLst xmlns:a="http://schemas.openxmlformats.org/drawingml/2006/main">
              <a:ext uri="{FF2B5EF4-FFF2-40B4-BE49-F238E27FC236}">
                <a16:creationId xmlns:a16="http://schemas.microsoft.com/office/drawing/2014/main" id="{F5CF94CF-E089-4521-8699-6A98B103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2-eyebrow">
            <a:extLst xmlns:a="http://schemas.openxmlformats.org/drawingml/2006/main">
              <a:ext uri="{FF2B5EF4-FFF2-40B4-BE49-F238E27FC236}">
                <a16:creationId xmlns:a16="http://schemas.microsoft.com/office/drawing/2014/main" id="{01E1B7C8-91E1-438A-9AB7-FBF8BFB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3" name="s02-slide-title">
            <a:extLst xmlns:a="http://schemas.openxmlformats.org/drawingml/2006/main">
              <a:ext uri="{FF2B5EF4-FFF2-40B4-BE49-F238E27FC236}">
                <a16:creationId xmlns:a16="http://schemas.microsoft.com/office/drawing/2014/main" id="{97FE9AB6-9E7E-47F0-B0D4-42BA794C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Leave with a working mental model</a:t>
            </a:r>
          </a:p>
        </p:txBody>
      </p:sp>
      <p:sp>
        <p:nvSpPr>
          <p:cNvPr id="4" name="s02-bullets">
            <a:extLst xmlns:a="http://schemas.openxmlformats.org/drawingml/2006/main">
              <a:ext uri="{FF2B5EF4-FFF2-40B4-BE49-F238E27FC236}">
                <a16:creationId xmlns:a16="http://schemas.microsoft.com/office/drawing/2014/main" id="{1B617DA4-7897-4ED6-A9CA-3E6DBC93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22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Start Gitea locally with persistent data.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22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Move one change through issue, branch, pull request, review, and merge.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22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Add a status check and protect main.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22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Know what must change before production.</a:t>
            </a:r>
          </a:p>
        </p:txBody>
      </p:sp>
    </p:spTree>
    <p:extLst>
      <p:ext uri="{BB962C8B-B14F-4D97-AF65-F5344CB8AC3E}">
        <p14:creationId xmlns:p14="http://schemas.microsoft.com/office/powerpoint/2010/main" val="1148023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03-top-rule">
            <a:extLst xmlns:a="http://schemas.openxmlformats.org/drawingml/2006/main">
              <a:ext uri="{FF2B5EF4-FFF2-40B4-BE49-F238E27FC236}">
                <a16:creationId xmlns:a16="http://schemas.microsoft.com/office/drawing/2014/main" id="{4F3CEF40-8765-44A0-841C-9E054D40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3-eyebrow">
            <a:extLst xmlns:a="http://schemas.openxmlformats.org/drawingml/2006/main">
              <a:ext uri="{FF2B5EF4-FFF2-40B4-BE49-F238E27FC236}">
                <a16:creationId xmlns:a16="http://schemas.microsoft.com/office/drawing/2014/main" id="{11DFC06B-EE84-428B-B63E-0441F126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3" name="s03-slide-title">
            <a:extLst xmlns:a="http://schemas.openxmlformats.org/drawingml/2006/main">
              <a:ext uri="{FF2B5EF4-FFF2-40B4-BE49-F238E27FC236}">
                <a16:creationId xmlns:a16="http://schemas.microsoft.com/office/drawing/2014/main" id="{E6CAA2DB-55D7-46CD-BF12-61BB5727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One end-to-end workflow</a:t>
            </a:r>
          </a:p>
        </p:txBody>
      </p:sp>
      <p:sp>
        <p:nvSpPr>
          <p:cNvPr id="4" name="s03-bullets">
            <a:extLst xmlns:a="http://schemas.openxmlformats.org/drawingml/2006/main">
              <a:ext uri="{FF2B5EF4-FFF2-40B4-BE49-F238E27FC236}">
                <a16:creationId xmlns:a16="http://schemas.microsoft.com/office/drawing/2014/main" id="{C9260B76-91A8-4A30-89CD-6890224A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8572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Aft>
                <a:spcPts val="18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1.  What Gitea owns</a:t>
            </a:r>
          </a:p>
          <a:p xmlns:a="http://schemas.openxmlformats.org/drawingml/2006/main">
            <a:pPr marL="0" indent="0" algn="l">
              <a:lnSpc>
                <a:spcPct val="112000"/>
              </a:lnSpc>
              <a:spcAft>
                <a:spcPts val="18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2.  Start an instance</a:t>
            </a:r>
          </a:p>
          <a:p xmlns:a="http://schemas.openxmlformats.org/drawingml/2006/main">
            <a:pPr marL="0" indent="0" algn="l">
              <a:lnSpc>
                <a:spcPct val="112000"/>
              </a:lnSpc>
              <a:spcAft>
                <a:spcPts val="18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3.  Collaborate on a change</a:t>
            </a:r>
          </a:p>
          <a:p xmlns:a="http://schemas.openxmlformats.org/drawingml/2006/main">
            <a:pPr marL="0" indent="0" algn="l">
              <a:lnSpc>
                <a:spcPct val="112000"/>
              </a:lnSpc>
              <a:spcAft>
                <a:spcPts val="18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4.  Automate and publish</a:t>
            </a:r>
          </a:p>
          <a:p xmlns:a="http://schemas.openxmlformats.org/drawingml/2006/main">
            <a:pPr marL="0" indent="0" algn="l">
              <a:lnSpc>
                <a:spcPct val="112000"/>
              </a:lnSpc>
              <a:spcAft>
                <a:spcPts val="18"/>
              </a:spcAft>
              <a:buNone/>
              <a:defRPr sz="21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5.  Operate it safely</a:t>
            </a:r>
          </a:p>
        </p:txBody>
      </p:sp>
    </p:spTree>
    <p:extLst>
      <p:ext uri="{BB962C8B-B14F-4D97-AF65-F5344CB8AC3E}">
        <p14:creationId xmlns:p14="http://schemas.microsoft.com/office/powerpoint/2010/main" val="1805723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04-top-rule">
            <a:extLst xmlns:a="http://schemas.openxmlformats.org/drawingml/2006/main">
              <a:ext uri="{FF2B5EF4-FFF2-40B4-BE49-F238E27FC236}">
                <a16:creationId xmlns:a16="http://schemas.microsoft.com/office/drawing/2014/main" id="{A2FA24B4-7765-49F3-8404-A5F8A1A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4-eyebrow">
            <a:extLst xmlns:a="http://schemas.openxmlformats.org/drawingml/2006/main">
              <a:ext uri="{FF2B5EF4-FFF2-40B4-BE49-F238E27FC236}">
                <a16:creationId xmlns:a16="http://schemas.microsoft.com/office/drawing/2014/main" id="{F274A325-CCCB-4D2E-9406-BA47A38F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3" name="s04-slide-title">
            <a:extLst xmlns:a="http://schemas.openxmlformats.org/drawingml/2006/main">
              <a:ext uri="{FF2B5EF4-FFF2-40B4-BE49-F238E27FC236}">
                <a16:creationId xmlns:a16="http://schemas.microsoft.com/office/drawing/2014/main" id="{519D7C90-1209-4DE7-8142-3ACC062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Gitea is the forge around Git</a:t>
            </a:r>
          </a:p>
        </p:txBody>
      </p:sp>
      <p:sp>
        <p:nvSpPr>
          <p:cNvPr id="4" name="s04-git-panel">
            <a:extLst xmlns:a="http://schemas.openxmlformats.org/drawingml/2006/main">
              <a:ext uri="{FF2B5EF4-FFF2-40B4-BE49-F238E27FC236}">
                <a16:creationId xmlns:a16="http://schemas.microsoft.com/office/drawing/2014/main" id="{744AD1A5-2DB0-4F84-9317-45A92493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" name="s04-git-rule">
            <a:extLst xmlns:a="http://schemas.openxmlformats.org/drawingml/2006/main">
              <a:ext uri="{FF2B5EF4-FFF2-40B4-BE49-F238E27FC236}">
                <a16:creationId xmlns:a16="http://schemas.microsoft.com/office/drawing/2014/main" id="{471B853A-9C8D-45C5-80A0-1CAE5015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9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04-git-heading">
            <a:extLst xmlns:a="http://schemas.openxmlformats.org/drawingml/2006/main">
              <a:ext uri="{FF2B5EF4-FFF2-40B4-BE49-F238E27FC236}">
                <a16:creationId xmlns:a16="http://schemas.microsoft.com/office/drawing/2014/main" id="{5485D645-5AB7-4FF0-8958-70247822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Git hosting</a:t>
            </a:r>
          </a:p>
        </p:txBody>
      </p:sp>
      <p:sp>
        <p:nvSpPr>
          <p:cNvPr id="7" name="s04-git-body">
            <a:extLst xmlns:a="http://schemas.openxmlformats.org/drawingml/2006/main">
              <a:ext uri="{FF2B5EF4-FFF2-40B4-BE49-F238E27FC236}">
                <a16:creationId xmlns:a16="http://schemas.microsoft.com/office/drawing/2014/main" id="{A61F58CC-74B4-47F7-BE0B-6E7515E9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Repositories over SSH and HTTP(S), with users, organizations, teams, and permissions.</a:t>
            </a:r>
          </a:p>
        </p:txBody>
      </p:sp>
      <p:sp>
        <p:nvSpPr>
          <p:cNvPr id="8" name="s04-collab-panel">
            <a:extLst xmlns:a="http://schemas.openxmlformats.org/drawingml/2006/main">
              <a:ext uri="{FF2B5EF4-FFF2-40B4-BE49-F238E27FC236}">
                <a16:creationId xmlns:a16="http://schemas.microsoft.com/office/drawing/2014/main" id="{8EC14BDA-57E1-431C-B575-ADCABCB8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9550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04-collab-rule">
            <a:extLst xmlns:a="http://schemas.openxmlformats.org/drawingml/2006/main">
              <a:ext uri="{FF2B5EF4-FFF2-40B4-BE49-F238E27FC236}">
                <a16:creationId xmlns:a16="http://schemas.microsoft.com/office/drawing/2014/main" id="{E2270667-9E32-431E-A904-D26C5D1D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95500"/>
            <a:ext cx="519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04-collab-heading">
            <a:extLst xmlns:a="http://schemas.openxmlformats.org/drawingml/2006/main">
              <a:ext uri="{FF2B5EF4-FFF2-40B4-BE49-F238E27FC236}">
                <a16:creationId xmlns:a16="http://schemas.microsoft.com/office/drawing/2014/main" id="{92C20487-E92C-48F5-B644-FACB7D07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66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Collaboration</a:t>
            </a:r>
          </a:p>
        </p:txBody>
      </p:sp>
      <p:sp>
        <p:nvSpPr>
          <p:cNvPr id="11" name="s04-collab-body">
            <a:extLst xmlns:a="http://schemas.openxmlformats.org/drawingml/2006/main">
              <a:ext uri="{FF2B5EF4-FFF2-40B4-BE49-F238E27FC236}">
                <a16:creationId xmlns:a16="http://schemas.microsoft.com/office/drawing/2014/main" id="{E36D4AE6-40A4-4101-BDE4-D7B86718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Issues, pull requests, reviews, projects, releases, wikis, and notifications.</a:t>
            </a:r>
          </a:p>
        </p:txBody>
      </p:sp>
      <p:sp>
        <p:nvSpPr>
          <p:cNvPr id="12" name="s04-automation-panel">
            <a:extLst xmlns:a="http://schemas.openxmlformats.org/drawingml/2006/main">
              <a:ext uri="{FF2B5EF4-FFF2-40B4-BE49-F238E27FC236}">
                <a16:creationId xmlns:a16="http://schemas.microsoft.com/office/drawing/2014/main" id="{34F0D341-E359-4D3D-A0CB-99FEF7D2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s04-automation-rule">
            <a:extLst xmlns:a="http://schemas.openxmlformats.org/drawingml/2006/main">
              <a:ext uri="{FF2B5EF4-FFF2-40B4-BE49-F238E27FC236}">
                <a16:creationId xmlns:a16="http://schemas.microsoft.com/office/drawing/2014/main" id="{AD775B5A-6372-4364-8602-B15C7423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9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04-automation-heading">
            <a:extLst xmlns:a="http://schemas.openxmlformats.org/drawingml/2006/main">
              <a:ext uri="{FF2B5EF4-FFF2-40B4-BE49-F238E27FC236}">
                <a16:creationId xmlns:a16="http://schemas.microsoft.com/office/drawing/2014/main" id="{9C737F57-FFFB-49E5-A7C7-266AD1B2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5" name="s04-automation-body">
            <a:extLst xmlns:a="http://schemas.openxmlformats.org/drawingml/2006/main">
              <a:ext uri="{FF2B5EF4-FFF2-40B4-BE49-F238E27FC236}">
                <a16:creationId xmlns:a16="http://schemas.microsoft.com/office/drawing/2014/main" id="{D33B357E-C246-4B7A-BF14-6335C3C4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Gitea Actions plus external runners, webhooks, and a REST API.</a:t>
            </a:r>
          </a:p>
        </p:txBody>
      </p:sp>
      <p:sp>
        <p:nvSpPr>
          <p:cNvPr id="16" name="s04-distribution-panel">
            <a:extLst xmlns:a="http://schemas.openxmlformats.org/drawingml/2006/main">
              <a:ext uri="{FF2B5EF4-FFF2-40B4-BE49-F238E27FC236}">
                <a16:creationId xmlns:a16="http://schemas.microsoft.com/office/drawing/2014/main" id="{C391185B-39CA-4B6B-813E-A5BC7A9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s04-distribution-rule">
            <a:extLst xmlns:a="http://schemas.openxmlformats.org/drawingml/2006/main">
              <a:ext uri="{FF2B5EF4-FFF2-40B4-BE49-F238E27FC236}">
                <a16:creationId xmlns:a16="http://schemas.microsoft.com/office/drawing/2014/main" id="{2AC10861-2853-4547-98DB-C2ECCC0D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519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04-distribution-heading">
            <a:extLst xmlns:a="http://schemas.openxmlformats.org/drawingml/2006/main">
              <a:ext uri="{FF2B5EF4-FFF2-40B4-BE49-F238E27FC236}">
                <a16:creationId xmlns:a16="http://schemas.microsoft.com/office/drawing/2014/main" id="{E7A13D15-451F-461F-8B39-6F630B4D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71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19" name="s04-distribution-body">
            <a:extLst xmlns:a="http://schemas.openxmlformats.org/drawingml/2006/main">
              <a:ext uri="{FF2B5EF4-FFF2-40B4-BE49-F238E27FC236}">
                <a16:creationId xmlns:a16="http://schemas.microsoft.com/office/drawing/2014/main" id="{1A901223-0285-46E6-A366-8CEA8AFA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4820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Package registries for OCI images and common language ecosystems.</a:t>
            </a:r>
          </a:p>
        </p:txBody>
      </p:sp>
      <p:sp>
        <p:nvSpPr>
          <p:cNvPr id="20" name="s04-source">
            <a:extLst xmlns:a="http://schemas.openxmlformats.org/drawingml/2006/main">
              <a:ext uri="{FF2B5EF4-FFF2-40B4-BE49-F238E27FC236}">
                <a16:creationId xmlns:a16="http://schemas.microsoft.com/office/drawing/2014/main" id="{2EA28748-D5D3-4F8C-B5E2-E97764C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Source: docs.gitea.com — What is Gitea?</a:t>
            </a:r>
          </a:p>
        </p:txBody>
      </p:sp>
    </p:spTree>
    <p:extLst>
      <p:ext uri="{BB962C8B-B14F-4D97-AF65-F5344CB8AC3E}">
        <p14:creationId xmlns:p14="http://schemas.microsoft.com/office/powerpoint/2010/main" val="264103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05-top-rule">
            <a:extLst xmlns:a="http://schemas.openxmlformats.org/drawingml/2006/main">
              <a:ext uri="{FF2B5EF4-FFF2-40B4-BE49-F238E27FC236}">
                <a16:creationId xmlns:a16="http://schemas.microsoft.com/office/drawing/2014/main" id="{3F72C811-7E1E-42A6-B365-60F530B5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5-eyebrow">
            <a:extLst xmlns:a="http://schemas.openxmlformats.org/drawingml/2006/main">
              <a:ext uri="{FF2B5EF4-FFF2-40B4-BE49-F238E27FC236}">
                <a16:creationId xmlns:a16="http://schemas.microsoft.com/office/drawing/2014/main" id="{EB50C3FF-665A-4426-85E6-B98676D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Demo Architecture</a:t>
            </a:r>
          </a:p>
        </p:txBody>
      </p:sp>
      <p:sp>
        <p:nvSpPr>
          <p:cNvPr id="3" name="s05-slide-title">
            <a:extLst xmlns:a="http://schemas.openxmlformats.org/drawingml/2006/main">
              <a:ext uri="{FF2B5EF4-FFF2-40B4-BE49-F238E27FC236}">
                <a16:creationId xmlns:a16="http://schemas.microsoft.com/office/drawing/2014/main" id="{A4FC536B-498B-448E-A89F-F445DE62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Start small; keep the data outside the container</a:t>
            </a:r>
          </a:p>
        </p:txBody>
      </p:sp>
      <p:sp>
        <p:nvSpPr>
          <p:cNvPr id="4" name="s05-arrow-1">
            <a:extLst xmlns:a="http://schemas.openxmlformats.org/drawingml/2006/main">
              <a:ext uri="{FF2B5EF4-FFF2-40B4-BE49-F238E27FC236}">
                <a16:creationId xmlns:a16="http://schemas.microsoft.com/office/drawing/2014/main" id="{46F80FA6-786D-46FB-ACCF-75C370FA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" name="s05-arrow-2">
            <a:extLst xmlns:a="http://schemas.openxmlformats.org/drawingml/2006/main">
              <a:ext uri="{FF2B5EF4-FFF2-40B4-BE49-F238E27FC236}">
                <a16:creationId xmlns:a16="http://schemas.microsoft.com/office/drawing/2014/main" id="{38E2D1D9-778F-44B8-8EC0-CA79F7A0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" name="s05-arrow-3">
            <a:extLst xmlns:a="http://schemas.openxmlformats.org/drawingml/2006/main">
              <a:ext uri="{FF2B5EF4-FFF2-40B4-BE49-F238E27FC236}">
                <a16:creationId xmlns:a16="http://schemas.microsoft.com/office/drawing/2014/main" id="{932ED466-66E2-4694-BC9B-FF5791EE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s05-arrow-4">
            <a:extLst xmlns:a="http://schemas.openxmlformats.org/drawingml/2006/main">
              <a:ext uri="{FF2B5EF4-FFF2-40B4-BE49-F238E27FC236}">
                <a16:creationId xmlns:a16="http://schemas.microsoft.com/office/drawing/2014/main" id="{CCE645A4-628D-4E1B-BAFD-706221D6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s05-flow-1">
            <a:extLst xmlns:a="http://schemas.openxmlformats.org/drawingml/2006/main">
              <a:ext uri="{FF2B5EF4-FFF2-40B4-BE49-F238E27FC236}">
                <a16:creationId xmlns:a16="http://schemas.microsoft.com/office/drawing/2014/main" id="{9D808D5D-E9DC-4E70-9585-6F645DED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05-flow-rule-1">
            <a:extLst xmlns:a="http://schemas.openxmlformats.org/drawingml/2006/main">
              <a:ext uri="{FF2B5EF4-FFF2-40B4-BE49-F238E27FC236}">
                <a16:creationId xmlns:a16="http://schemas.microsoft.com/office/drawing/2014/main" id="{79899E84-AE81-4A3F-96E2-DA7D169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05-flow-title-1">
            <a:extLst xmlns:a="http://schemas.openxmlformats.org/drawingml/2006/main">
              <a:ext uri="{FF2B5EF4-FFF2-40B4-BE49-F238E27FC236}">
                <a16:creationId xmlns:a16="http://schemas.microsoft.com/office/drawing/2014/main" id="{106B776F-91A8-4683-80F9-3CC6FCB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11" name="s05-flow-sub-1">
            <a:extLst xmlns:a="http://schemas.openxmlformats.org/drawingml/2006/main">
              <a:ext uri="{FF2B5EF4-FFF2-40B4-BE49-F238E27FC236}">
                <a16:creationId xmlns:a16="http://schemas.microsoft.com/office/drawing/2014/main" id="{C4BF6BC3-9F64-4F2A-AD55-56251E28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localhost:3000</a:t>
            </a:r>
          </a:p>
        </p:txBody>
      </p:sp>
      <p:sp>
        <p:nvSpPr>
          <p:cNvPr id="12" name="s05-flow-2">
            <a:extLst xmlns:a="http://schemas.openxmlformats.org/drawingml/2006/main">
              <a:ext uri="{FF2B5EF4-FFF2-40B4-BE49-F238E27FC236}">
                <a16:creationId xmlns:a16="http://schemas.microsoft.com/office/drawing/2014/main" id="{B1F9A52F-2248-49C7-99ED-DFD6C1AE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s05-flow-rule-2">
            <a:extLst xmlns:a="http://schemas.openxmlformats.org/drawingml/2006/main">
              <a:ext uri="{FF2B5EF4-FFF2-40B4-BE49-F238E27FC236}">
                <a16:creationId xmlns:a16="http://schemas.microsoft.com/office/drawing/2014/main" id="{50287F74-45C6-4156-A57E-B951D50F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05-flow-title-2">
            <a:extLst xmlns:a="http://schemas.openxmlformats.org/drawingml/2006/main">
              <a:ext uri="{FF2B5EF4-FFF2-40B4-BE49-F238E27FC236}">
                <a16:creationId xmlns:a16="http://schemas.microsoft.com/office/drawing/2014/main" id="{AC7B33B4-DD6D-4F7F-A80A-B7E5DAFF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Gitea 1.26.4</a:t>
            </a:r>
          </a:p>
        </p:txBody>
      </p:sp>
      <p:sp>
        <p:nvSpPr>
          <p:cNvPr id="15" name="s05-flow-sub-2">
            <a:extLst xmlns:a="http://schemas.openxmlformats.org/drawingml/2006/main">
              <a:ext uri="{FF2B5EF4-FFF2-40B4-BE49-F238E27FC236}">
                <a16:creationId xmlns:a16="http://schemas.microsoft.com/office/drawing/2014/main" id="{CFDC2804-125A-4257-B79F-84030A75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Web + SSH</a:t>
            </a:r>
          </a:p>
        </p:txBody>
      </p:sp>
      <p:sp>
        <p:nvSpPr>
          <p:cNvPr id="16" name="s05-flow-3">
            <a:extLst xmlns:a="http://schemas.openxmlformats.org/drawingml/2006/main">
              <a:ext uri="{FF2B5EF4-FFF2-40B4-BE49-F238E27FC236}">
                <a16:creationId xmlns:a16="http://schemas.microsoft.com/office/drawing/2014/main" id="{CF59284A-2358-4D33-9DE0-BE1B3391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s05-flow-rule-3">
            <a:extLst xmlns:a="http://schemas.openxmlformats.org/drawingml/2006/main">
              <a:ext uri="{FF2B5EF4-FFF2-40B4-BE49-F238E27FC236}">
                <a16:creationId xmlns:a16="http://schemas.microsoft.com/office/drawing/2014/main" id="{CDDCE77F-06F6-436E-B37B-F1FBE139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05-flow-title-3">
            <a:extLst xmlns:a="http://schemas.openxmlformats.org/drawingml/2006/main">
              <a:ext uri="{FF2B5EF4-FFF2-40B4-BE49-F238E27FC236}">
                <a16:creationId xmlns:a16="http://schemas.microsoft.com/office/drawing/2014/main" id="{E548FB9A-F4DC-4604-ADF3-9C09A36C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9" name="s05-flow-sub-3">
            <a:extLst xmlns:a="http://schemas.openxmlformats.org/drawingml/2006/main">
              <a:ext uri="{FF2B5EF4-FFF2-40B4-BE49-F238E27FC236}">
                <a16:creationId xmlns:a16="http://schemas.microsoft.com/office/drawing/2014/main" id="{E17E2D39-8B98-4E15-BC77-1C2FA6F2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Built in</a:t>
            </a:r>
          </a:p>
        </p:txBody>
      </p:sp>
      <p:sp>
        <p:nvSpPr>
          <p:cNvPr id="20" name="s05-flow-4">
            <a:extLst xmlns:a="http://schemas.openxmlformats.org/drawingml/2006/main">
              <a:ext uri="{FF2B5EF4-FFF2-40B4-BE49-F238E27FC236}">
                <a16:creationId xmlns:a16="http://schemas.microsoft.com/office/drawing/2014/main" id="{918B0799-4EFB-4DD9-8CC6-4517D456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1" name="s05-flow-rule-4">
            <a:extLst xmlns:a="http://schemas.openxmlformats.org/drawingml/2006/main">
              <a:ext uri="{FF2B5EF4-FFF2-40B4-BE49-F238E27FC236}">
                <a16:creationId xmlns:a16="http://schemas.microsoft.com/office/drawing/2014/main" id="{B3F7D99C-6E11-481C-A8D3-3A9A0AE9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05-flow-title-4">
            <a:extLst xmlns:a="http://schemas.openxmlformats.org/drawingml/2006/main">
              <a:ext uri="{FF2B5EF4-FFF2-40B4-BE49-F238E27FC236}">
                <a16:creationId xmlns:a16="http://schemas.microsoft.com/office/drawing/2014/main" id="{9C5BAF00-163A-499A-B18F-F7BC8026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/data</a:t>
            </a:r>
          </a:p>
        </p:txBody>
      </p:sp>
      <p:sp>
        <p:nvSpPr>
          <p:cNvPr id="23" name="s05-flow-sub-4">
            <a:extLst xmlns:a="http://schemas.openxmlformats.org/drawingml/2006/main">
              <a:ext uri="{FF2B5EF4-FFF2-40B4-BE49-F238E27FC236}">
                <a16:creationId xmlns:a16="http://schemas.microsoft.com/office/drawing/2014/main" id="{F8F9F15C-B354-4B13-AE6D-4FEDD074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Named volume</a:t>
            </a:r>
          </a:p>
        </p:txBody>
      </p:sp>
      <p:sp>
        <p:nvSpPr>
          <p:cNvPr id="24" name="s05-flow-5">
            <a:extLst xmlns:a="http://schemas.openxmlformats.org/drawingml/2006/main">
              <a:ext uri="{FF2B5EF4-FFF2-40B4-BE49-F238E27FC236}">
                <a16:creationId xmlns:a16="http://schemas.microsoft.com/office/drawing/2014/main" id="{CE58CF0D-6FF5-493A-A8B4-4CBA5621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5" name="s05-flow-rule-5">
            <a:extLst xmlns:a="http://schemas.openxmlformats.org/drawingml/2006/main">
              <a:ext uri="{FF2B5EF4-FFF2-40B4-BE49-F238E27FC236}">
                <a16:creationId xmlns:a16="http://schemas.microsoft.com/office/drawing/2014/main" id="{DA29A3BF-75EE-4C59-87B8-0F38AFD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05-flow-title-5">
            <a:extLst xmlns:a="http://schemas.openxmlformats.org/drawingml/2006/main">
              <a:ext uri="{FF2B5EF4-FFF2-40B4-BE49-F238E27FC236}">
                <a16:creationId xmlns:a16="http://schemas.microsoft.com/office/drawing/2014/main" id="{15F19C64-9CE2-4A9D-B64D-DB922519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Git client</a:t>
            </a:r>
          </a:p>
        </p:txBody>
      </p:sp>
      <p:sp>
        <p:nvSpPr>
          <p:cNvPr id="27" name="s05-flow-sub-5">
            <a:extLst xmlns:a="http://schemas.openxmlformats.org/drawingml/2006/main">
              <a:ext uri="{FF2B5EF4-FFF2-40B4-BE49-F238E27FC236}">
                <a16:creationId xmlns:a16="http://schemas.microsoft.com/office/drawing/2014/main" id="{75C75B26-C7E9-48F5-B08F-EED7E982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SSH on 2222</a:t>
            </a:r>
          </a:p>
        </p:txBody>
      </p:sp>
      <p:sp>
        <p:nvSpPr>
          <p:cNvPr id="28" name="s05-takeaway">
            <a:extLst xmlns:a="http://schemas.openxmlformats.org/drawingml/2006/main">
              <a:ext uri="{FF2B5EF4-FFF2-40B4-BE49-F238E27FC236}">
                <a16:creationId xmlns:a16="http://schemas.microsoft.com/office/drawing/2014/main" id="{B4A0E84E-B5BF-46EA-88A9-6C7435D1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962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96169"/>
                </a:solidFill>
                <a:latin typeface="Aptos"/>
                <a:ea typeface="Aptos"/>
                <a:cs typeface="Aptos"/>
              </a:rPr>
              <a:t>The container is disposable. The volume is not.</a:t>
            </a:r>
          </a:p>
        </p:txBody>
      </p:sp>
    </p:spTree>
    <p:extLst>
      <p:ext uri="{BB962C8B-B14F-4D97-AF65-F5344CB8AC3E}">
        <p14:creationId xmlns:p14="http://schemas.microsoft.com/office/powerpoint/2010/main" val="536957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06-top-rule">
            <a:extLst xmlns:a="http://schemas.openxmlformats.org/drawingml/2006/main">
              <a:ext uri="{FF2B5EF4-FFF2-40B4-BE49-F238E27FC236}">
                <a16:creationId xmlns:a16="http://schemas.microsoft.com/office/drawing/2014/main" id="{F8B28EE6-952F-4DFC-8CCD-69B78CA8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6-eyebrow">
            <a:extLst xmlns:a="http://schemas.openxmlformats.org/drawingml/2006/main">
              <a:ext uri="{FF2B5EF4-FFF2-40B4-BE49-F238E27FC236}">
                <a16:creationId xmlns:a16="http://schemas.microsoft.com/office/drawing/2014/main" id="{EDD51E60-4A7A-4494-A74E-FF79A92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Start Gitea</a:t>
            </a:r>
          </a:p>
        </p:txBody>
      </p:sp>
      <p:sp>
        <p:nvSpPr>
          <p:cNvPr id="3" name="s06-slide-title">
            <a:extLst xmlns:a="http://schemas.openxmlformats.org/drawingml/2006/main">
              <a:ext uri="{FF2B5EF4-FFF2-40B4-BE49-F238E27FC236}">
                <a16:creationId xmlns:a16="http://schemas.microsoft.com/office/drawing/2014/main" id="{F03A17AE-24A4-4419-B5CC-AD7CBBF9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Two commands create a durable demo</a:t>
            </a:r>
          </a:p>
        </p:txBody>
      </p:sp>
      <p:sp>
        <p:nvSpPr>
          <p:cNvPr id="4" name="s06-code-panel">
            <a:extLst xmlns:a="http://schemas.openxmlformats.org/drawingml/2006/main">
              <a:ext uri="{FF2B5EF4-FFF2-40B4-BE49-F238E27FC236}">
                <a16:creationId xmlns:a16="http://schemas.microsoft.com/office/drawing/2014/main" id="{F43316C5-E63D-4124-B821-D367079C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2E3A44"/>
            </a:solidFill>
            <a:prstDash val="solid"/>
          </a:ln>
        </p:spPr>
      </p:sp>
      <p:sp>
        <p:nvSpPr>
          <p:cNvPr id="5" name="s06-code">
            <a:extLst xmlns:a="http://schemas.openxmlformats.org/drawingml/2006/main">
              <a:ext uri="{FF2B5EF4-FFF2-40B4-BE49-F238E27FC236}">
                <a16:creationId xmlns:a16="http://schemas.microsoft.com/office/drawing/2014/main" id="{0FE31F3F-B690-4E87-82A8-89F0876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0401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# Apple container CLI — tested with Gitea 1.26.4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container volume create gitea-data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container run --name gitea --detach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--publish 3000:3000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--publish 2222:22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--volume gitea-data:/data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--env GITEA__server__SSH_PORT=2222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--env GITEA__server__ROOT_URL=http://localhost:3000/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docker.gitea.com/gitea:1.26.4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# Observe startup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container logs gitea</a:t>
            </a:r>
          </a:p>
        </p:txBody>
      </p:sp>
      <p:sp>
        <p:nvSpPr>
          <p:cNvPr id="6" name="s06-source">
            <a:extLst xmlns:a="http://schemas.openxmlformats.org/drawingml/2006/main">
              <a:ext uri="{FF2B5EF4-FFF2-40B4-BE49-F238E27FC236}">
                <a16:creationId xmlns:a16="http://schemas.microsoft.com/office/drawing/2014/main" id="{3663F996-2579-4E60-A7DF-57AE66E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Adapted from the official Gitea 1.26 container installation guide; commands use Apple container.</a:t>
            </a:r>
          </a:p>
        </p:txBody>
      </p:sp>
    </p:spTree>
    <p:extLst>
      <p:ext uri="{BB962C8B-B14F-4D97-AF65-F5344CB8AC3E}">
        <p14:creationId xmlns:p14="http://schemas.microsoft.com/office/powerpoint/2010/main" val="21147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07-top-rule">
            <a:extLst xmlns:a="http://schemas.openxmlformats.org/drawingml/2006/main">
              <a:ext uri="{FF2B5EF4-FFF2-40B4-BE49-F238E27FC236}">
                <a16:creationId xmlns:a16="http://schemas.microsoft.com/office/drawing/2014/main" id="{88D02BE5-726F-41AE-9A02-EE4A81A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7-eyebrow">
            <a:extLst xmlns:a="http://schemas.openxmlformats.org/drawingml/2006/main">
              <a:ext uri="{FF2B5EF4-FFF2-40B4-BE49-F238E27FC236}">
                <a16:creationId xmlns:a16="http://schemas.microsoft.com/office/drawing/2014/main" id="{87A619E8-0ED5-4847-B677-ED3A481D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First Run</a:t>
            </a:r>
          </a:p>
        </p:txBody>
      </p:sp>
      <p:sp>
        <p:nvSpPr>
          <p:cNvPr id="3" name="s07-slide-title">
            <a:extLst xmlns:a="http://schemas.openxmlformats.org/drawingml/2006/main">
              <a:ext uri="{FF2B5EF4-FFF2-40B4-BE49-F238E27FC236}">
                <a16:creationId xmlns:a16="http://schemas.microsoft.com/office/drawing/2014/main" id="{F30BC0A5-5ED2-4808-88FD-F774AFB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The installer turns runtime choices into configuration</a:t>
            </a:r>
          </a:p>
        </p:txBody>
      </p:sp>
      <p:sp>
        <p:nvSpPr>
          <p:cNvPr id="4" name="s07-bullets">
            <a:extLst xmlns:a="http://schemas.openxmlformats.org/drawingml/2006/main">
              <a:ext uri="{FF2B5EF4-FFF2-40B4-BE49-F238E27FC236}">
                <a16:creationId xmlns:a16="http://schemas.microsoft.com/office/drawing/2014/main" id="{F07B8D17-FEE8-4DAE-BC5B-34D610E8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048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5"/>
              </a:spcAft>
              <a:buNone/>
              <a:defRPr sz="18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Database: SQLite3 for this demo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5"/>
              </a:spcAft>
              <a:buNone/>
              <a:defRPr sz="18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Site title and server domain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5"/>
              </a:spcAft>
              <a:buNone/>
              <a:defRPr sz="18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HTTP port 3000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5"/>
              </a:spcAft>
              <a:buNone/>
              <a:defRPr sz="18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SSH port 2222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5"/>
              </a:spcAft>
              <a:buNone/>
              <a:defRPr sz="187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Create the first administrator</a:t>
            </a:r>
          </a:p>
        </p:txBody>
      </p:sp>
      <p:sp>
        <p:nvSpPr>
          <p:cNvPr id="5" name="s07-data-panel">
            <a:extLst xmlns:a="http://schemas.openxmlformats.org/drawingml/2006/main">
              <a:ext uri="{FF2B5EF4-FFF2-40B4-BE49-F238E27FC236}">
                <a16:creationId xmlns:a16="http://schemas.microsoft.com/office/drawing/2014/main" id="{EBA89B84-E0A6-414D-A232-F73C3462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6" name="s07-data-rule">
            <a:extLst xmlns:a="http://schemas.openxmlformats.org/drawingml/2006/main">
              <a:ext uri="{FF2B5EF4-FFF2-40B4-BE49-F238E27FC236}">
                <a16:creationId xmlns:a16="http://schemas.microsoft.com/office/drawing/2014/main" id="{313BA584-8756-4626-ACCA-680D5275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07-data-heading">
            <a:extLst xmlns:a="http://schemas.openxmlformats.org/drawingml/2006/main">
              <a:ext uri="{FF2B5EF4-FFF2-40B4-BE49-F238E27FC236}">
                <a16:creationId xmlns:a16="http://schemas.microsoft.com/office/drawing/2014/main" id="{88E198B4-57EA-467F-8460-48AAA92E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609926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609926"/>
                </a:solidFill>
                <a:latin typeface="Aptos"/>
                <a:ea typeface="Aptos"/>
                <a:cs typeface="Aptos"/>
              </a:rPr>
              <a:t>/data</a:t>
            </a:r>
          </a:p>
        </p:txBody>
      </p:sp>
      <p:sp>
        <p:nvSpPr>
          <p:cNvPr id="8" name="s07-data-body">
            <a:extLst xmlns:a="http://schemas.openxmlformats.org/drawingml/2006/main">
              <a:ext uri="{FF2B5EF4-FFF2-40B4-BE49-F238E27FC236}">
                <a16:creationId xmlns:a16="http://schemas.microsoft.com/office/drawing/2014/main" id="{A0760A20-58D2-4D69-813A-A09D0108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333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One directory to protect. The official image keeps configuration, repositories, attachments, indexes, and the SQLite database under the persistent data tree.</a:t>
            </a:r>
          </a:p>
        </p:txBody>
      </p:sp>
    </p:spTree>
    <p:extLst>
      <p:ext uri="{BB962C8B-B14F-4D97-AF65-F5344CB8AC3E}">
        <p14:creationId xmlns:p14="http://schemas.microsoft.com/office/powerpoint/2010/main" val="1877420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08-top-rule">
            <a:extLst xmlns:a="http://schemas.openxmlformats.org/drawingml/2006/main">
              <a:ext uri="{FF2B5EF4-FFF2-40B4-BE49-F238E27FC236}">
                <a16:creationId xmlns:a16="http://schemas.microsoft.com/office/drawing/2014/main" id="{B1E1CC7C-475B-45C1-89DF-6185336C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8-eyebrow">
            <a:extLst xmlns:a="http://schemas.openxmlformats.org/drawingml/2006/main">
              <a:ext uri="{FF2B5EF4-FFF2-40B4-BE49-F238E27FC236}">
                <a16:creationId xmlns:a16="http://schemas.microsoft.com/office/drawing/2014/main" id="{4DFCE37A-9548-461B-BC64-F82B4E7B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Repository Setup</a:t>
            </a:r>
          </a:p>
        </p:txBody>
      </p:sp>
      <p:sp>
        <p:nvSpPr>
          <p:cNvPr id="3" name="s08-slide-title">
            <a:extLst xmlns:a="http://schemas.openxmlformats.org/drawingml/2006/main">
              <a:ext uri="{FF2B5EF4-FFF2-40B4-BE49-F238E27FC236}">
                <a16:creationId xmlns:a16="http://schemas.microsoft.com/office/drawing/2014/main" id="{D9609098-8543-4E12-B5CF-611DC483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Organize ownership before adding code</a:t>
            </a:r>
          </a:p>
        </p:txBody>
      </p:sp>
      <p:sp>
        <p:nvSpPr>
          <p:cNvPr id="4" name="s08-org-panel">
            <a:extLst xmlns:a="http://schemas.openxmlformats.org/drawingml/2006/main">
              <a:ext uri="{FF2B5EF4-FFF2-40B4-BE49-F238E27FC236}">
                <a16:creationId xmlns:a16="http://schemas.microsoft.com/office/drawing/2014/main" id="{0495B282-D0BE-4173-BA45-870C5F18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" name="s08-org-rule">
            <a:extLst xmlns:a="http://schemas.openxmlformats.org/drawingml/2006/main">
              <a:ext uri="{FF2B5EF4-FFF2-40B4-BE49-F238E27FC236}">
                <a16:creationId xmlns:a16="http://schemas.microsoft.com/office/drawing/2014/main" id="{BB1D7A42-551A-471C-9A31-84B75B56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08-org-heading">
            <a:extLst xmlns:a="http://schemas.openxmlformats.org/drawingml/2006/main">
              <a:ext uri="{FF2B5EF4-FFF2-40B4-BE49-F238E27FC236}">
                <a16:creationId xmlns:a16="http://schemas.microsoft.com/office/drawing/2014/main" id="{CC55208A-25A7-4E10-80E2-633EACC3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Organization</a:t>
            </a:r>
          </a:p>
        </p:txBody>
      </p:sp>
      <p:sp>
        <p:nvSpPr>
          <p:cNvPr id="7" name="s08-org-body">
            <a:extLst xmlns:a="http://schemas.openxmlformats.org/drawingml/2006/main">
              <a:ext uri="{FF2B5EF4-FFF2-40B4-BE49-F238E27FC236}">
                <a16:creationId xmlns:a16="http://schemas.microsoft.com/office/drawing/2014/main" id="{68EA433C-56FA-488E-9B00-D1A170D0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Stable owner for repositories, packages, runners, and shared identity.</a:t>
            </a:r>
          </a:p>
        </p:txBody>
      </p:sp>
      <p:sp>
        <p:nvSpPr>
          <p:cNvPr id="8" name="s08-teams-panel">
            <a:extLst xmlns:a="http://schemas.openxmlformats.org/drawingml/2006/main">
              <a:ext uri="{FF2B5EF4-FFF2-40B4-BE49-F238E27FC236}">
                <a16:creationId xmlns:a16="http://schemas.microsoft.com/office/drawing/2014/main" id="{931BBFA1-9707-4A14-89DB-2479EFE2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08-teams-rule">
            <a:extLst xmlns:a="http://schemas.openxmlformats.org/drawingml/2006/main">
              <a:ext uri="{FF2B5EF4-FFF2-40B4-BE49-F238E27FC236}">
                <a16:creationId xmlns:a16="http://schemas.microsoft.com/office/drawing/2014/main" id="{B48BB260-AA1D-4AAD-8BA8-6A6A0C2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08-teams-heading">
            <a:extLst xmlns:a="http://schemas.openxmlformats.org/drawingml/2006/main">
              <a:ext uri="{FF2B5EF4-FFF2-40B4-BE49-F238E27FC236}">
                <a16:creationId xmlns:a16="http://schemas.microsoft.com/office/drawing/2014/main" id="{94FFD604-7301-41B7-AFD4-91BDA8E7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Teams</a:t>
            </a:r>
          </a:p>
        </p:txBody>
      </p:sp>
      <p:sp>
        <p:nvSpPr>
          <p:cNvPr id="11" name="s08-teams-body">
            <a:extLst xmlns:a="http://schemas.openxmlformats.org/drawingml/2006/main">
              <a:ext uri="{FF2B5EF4-FFF2-40B4-BE49-F238E27FC236}">
                <a16:creationId xmlns:a16="http://schemas.microsoft.com/office/drawing/2014/main" id="{A7A3C3D9-E22B-40E9-8921-1681422A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289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Group people by responsibility and grant repository-unit permissions.</a:t>
            </a:r>
          </a:p>
        </p:txBody>
      </p:sp>
      <p:sp>
        <p:nvSpPr>
          <p:cNvPr id="12" name="s08-repo-panel">
            <a:extLst xmlns:a="http://schemas.openxmlformats.org/drawingml/2006/main">
              <a:ext uri="{FF2B5EF4-FFF2-40B4-BE49-F238E27FC236}">
                <a16:creationId xmlns:a16="http://schemas.microsoft.com/office/drawing/2014/main" id="{81A677DB-9B8B-4706-850F-13E87614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s08-repo-rule">
            <a:extLst xmlns:a="http://schemas.openxmlformats.org/drawingml/2006/main">
              <a:ext uri="{FF2B5EF4-FFF2-40B4-BE49-F238E27FC236}">
                <a16:creationId xmlns:a16="http://schemas.microsoft.com/office/drawing/2014/main" id="{0C7957C2-1996-4EF7-BC31-1DC90F72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08-repo-heading">
            <a:extLst xmlns:a="http://schemas.openxmlformats.org/drawingml/2006/main">
              <a:ext uri="{FF2B5EF4-FFF2-40B4-BE49-F238E27FC236}">
                <a16:creationId xmlns:a16="http://schemas.microsoft.com/office/drawing/2014/main" id="{6B554D0E-6148-4D5D-A9B0-EF40FD8C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5" name="s08-repo-body">
            <a:extLst xmlns:a="http://schemas.openxmlformats.org/drawingml/2006/main">
              <a:ext uri="{FF2B5EF4-FFF2-40B4-BE49-F238E27FC236}">
                <a16:creationId xmlns:a16="http://schemas.microsoft.com/office/drawing/2014/main" id="{2EF3B780-E407-4793-9AC6-668F3FA7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Choose visibility, initialize a README, then add collaborators and rules.</a:t>
            </a:r>
          </a:p>
        </p:txBody>
      </p:sp>
      <p:sp>
        <p:nvSpPr>
          <p:cNvPr id="16" name="s08-demo">
            <a:extLst xmlns:a="http://schemas.openxmlformats.org/drawingml/2006/main">
              <a:ext uri="{FF2B5EF4-FFF2-40B4-BE49-F238E27FC236}">
                <a16:creationId xmlns:a16="http://schemas.microsoft.com/office/drawing/2014/main" id="{E429BEAD-F833-45DE-A4CA-61C7D163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Demo: create tea-lab → developers → hello-gitea</a:t>
            </a:r>
          </a:p>
        </p:txBody>
      </p:sp>
    </p:spTree>
    <p:extLst>
      <p:ext uri="{BB962C8B-B14F-4D97-AF65-F5344CB8AC3E}">
        <p14:creationId xmlns:p14="http://schemas.microsoft.com/office/powerpoint/2010/main" val="424676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09-top-rule">
            <a:extLst xmlns:a="http://schemas.openxmlformats.org/drawingml/2006/main">
              <a:ext uri="{FF2B5EF4-FFF2-40B4-BE49-F238E27FC236}">
                <a16:creationId xmlns:a16="http://schemas.microsoft.com/office/drawing/2014/main" id="{A92D8BF5-C38F-4A13-8469-C8C50DE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09-eyebrow">
            <a:extLst xmlns:a="http://schemas.openxmlformats.org/drawingml/2006/main">
              <a:ext uri="{FF2B5EF4-FFF2-40B4-BE49-F238E27FC236}">
                <a16:creationId xmlns:a16="http://schemas.microsoft.com/office/drawing/2014/main" id="{D1D9B3AD-1DD0-4BD5-A398-40CA9F1B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Everyday Git</a:t>
            </a:r>
          </a:p>
        </p:txBody>
      </p:sp>
      <p:sp>
        <p:nvSpPr>
          <p:cNvPr id="3" name="s09-slide-title">
            <a:extLst xmlns:a="http://schemas.openxmlformats.org/drawingml/2006/main">
              <a:ext uri="{FF2B5EF4-FFF2-40B4-BE49-F238E27FC236}">
                <a16:creationId xmlns:a16="http://schemas.microsoft.com/office/drawing/2014/main" id="{BFE1B6DD-E6EE-46EC-9FE4-4B31C967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Gitea does not replace the Git workflow</a:t>
            </a:r>
          </a:p>
        </p:txBody>
      </p:sp>
      <p:sp>
        <p:nvSpPr>
          <p:cNvPr id="4" name="s09-code-panel">
            <a:extLst xmlns:a="http://schemas.openxmlformats.org/drawingml/2006/main">
              <a:ext uri="{FF2B5EF4-FFF2-40B4-BE49-F238E27FC236}">
                <a16:creationId xmlns:a16="http://schemas.microsoft.com/office/drawing/2014/main" id="{6C844187-A894-44AA-B567-5207556F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2E3A44"/>
            </a:solidFill>
            <a:prstDash val="solid"/>
          </a:ln>
        </p:spPr>
      </p:sp>
      <p:sp>
        <p:nvSpPr>
          <p:cNvPr id="5" name="s09-code">
            <a:extLst xmlns:a="http://schemas.openxmlformats.org/drawingml/2006/main">
              <a:ext uri="{FF2B5EF4-FFF2-40B4-BE49-F238E27FC236}">
                <a16:creationId xmlns:a16="http://schemas.microsoft.com/office/drawing/2014/main" id="{A06540CC-97EA-426D-8A9F-A59F993C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104013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# Add an SSH key in User settings → SSH / GPG Keys first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git clone ssh://git@localhost:2222/tea-lab/hello-gitea.git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cd hello-gitea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git switch -c feature/greeting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printf 'Hello from Gitea\n' &gt; greeting.txt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git add greeting.txt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git commit -m "Add a friendly greeting"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git push -u origin feature/greeting</a:t>
            </a:r>
          </a:p>
        </p:txBody>
      </p:sp>
      <p:sp>
        <p:nvSpPr>
          <p:cNvPr id="6" name="s09-push-hint">
            <a:extLst xmlns:a="http://schemas.openxmlformats.org/drawingml/2006/main">
              <a:ext uri="{FF2B5EF4-FFF2-40B4-BE49-F238E27FC236}">
                <a16:creationId xmlns:a16="http://schemas.microsoft.com/office/drawing/2014/main" id="{C4A3897B-16BE-4145-A081-3AF4F248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The push response links directly to the compare page.</a:t>
            </a:r>
          </a:p>
        </p:txBody>
      </p:sp>
    </p:spTree>
    <p:extLst>
      <p:ext uri="{BB962C8B-B14F-4D97-AF65-F5344CB8AC3E}">
        <p14:creationId xmlns:p14="http://schemas.microsoft.com/office/powerpoint/2010/main" val="1086465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10-top-rule">
            <a:extLst xmlns:a="http://schemas.openxmlformats.org/drawingml/2006/main">
              <a:ext uri="{FF2B5EF4-FFF2-40B4-BE49-F238E27FC236}">
                <a16:creationId xmlns:a16="http://schemas.microsoft.com/office/drawing/2014/main" id="{C8CCEE71-246B-408E-93EF-A744341C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E6B7AE9E-287C-4023-9AC9-8ECC2BAE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Collaboration Loop</a:t>
            </a:r>
          </a:p>
        </p:txBody>
      </p:sp>
      <p:sp>
        <p:nvSpPr>
          <p:cNvPr id="3" name="s10-slide-title">
            <a:extLst xmlns:a="http://schemas.openxmlformats.org/drawingml/2006/main">
              <a:ext uri="{FF2B5EF4-FFF2-40B4-BE49-F238E27FC236}">
                <a16:creationId xmlns:a16="http://schemas.microsoft.com/office/drawing/2014/main" id="{5ECA5EA7-8B67-42D1-8A07-6512D58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Every change gains context and a decision trail</a:t>
            </a:r>
          </a:p>
        </p:txBody>
      </p:sp>
      <p:sp>
        <p:nvSpPr>
          <p:cNvPr id="4" name="s10-arrow-1">
            <a:extLst xmlns:a="http://schemas.openxmlformats.org/drawingml/2006/main">
              <a:ext uri="{FF2B5EF4-FFF2-40B4-BE49-F238E27FC236}">
                <a16:creationId xmlns:a16="http://schemas.microsoft.com/office/drawing/2014/main" id="{FA3F79FF-B2D3-4843-BE44-4B26E6B2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" name="s10-arrow-2">
            <a:extLst xmlns:a="http://schemas.openxmlformats.org/drawingml/2006/main">
              <a:ext uri="{FF2B5EF4-FFF2-40B4-BE49-F238E27FC236}">
                <a16:creationId xmlns:a16="http://schemas.microsoft.com/office/drawing/2014/main" id="{7411A63C-E0E6-41A0-8DE1-5BB8998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" name="s10-arrow-3">
            <a:extLst xmlns:a="http://schemas.openxmlformats.org/drawingml/2006/main">
              <a:ext uri="{FF2B5EF4-FFF2-40B4-BE49-F238E27FC236}">
                <a16:creationId xmlns:a16="http://schemas.microsoft.com/office/drawing/2014/main" id="{52B97D74-F970-47F6-B820-E0A241E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s10-arrow-4">
            <a:extLst xmlns:a="http://schemas.openxmlformats.org/drawingml/2006/main">
              <a:ext uri="{FF2B5EF4-FFF2-40B4-BE49-F238E27FC236}">
                <a16:creationId xmlns:a16="http://schemas.microsoft.com/office/drawing/2014/main" id="{2B4DF28F-F65B-44B0-8BCD-057E47A5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289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s10-flow-1">
            <a:extLst xmlns:a="http://schemas.openxmlformats.org/drawingml/2006/main">
              <a:ext uri="{FF2B5EF4-FFF2-40B4-BE49-F238E27FC236}">
                <a16:creationId xmlns:a16="http://schemas.microsoft.com/office/drawing/2014/main" id="{B61F9953-0CCD-4016-BC13-DA1D83AF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10-flow-rule-1">
            <a:extLst xmlns:a="http://schemas.openxmlformats.org/drawingml/2006/main">
              <a:ext uri="{FF2B5EF4-FFF2-40B4-BE49-F238E27FC236}">
                <a16:creationId xmlns:a16="http://schemas.microsoft.com/office/drawing/2014/main" id="{6A66D1A7-00F6-4651-BEE8-0D0EAEC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0-flow-title-1">
            <a:extLst xmlns:a="http://schemas.openxmlformats.org/drawingml/2006/main">
              <a:ext uri="{FF2B5EF4-FFF2-40B4-BE49-F238E27FC236}">
                <a16:creationId xmlns:a16="http://schemas.microsoft.com/office/drawing/2014/main" id="{21666C07-0489-4822-9F61-4E166237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Issue</a:t>
            </a:r>
          </a:p>
        </p:txBody>
      </p:sp>
      <p:sp>
        <p:nvSpPr>
          <p:cNvPr id="11" name="s10-flow-sub-1">
            <a:extLst xmlns:a="http://schemas.openxmlformats.org/drawingml/2006/main">
              <a:ext uri="{FF2B5EF4-FFF2-40B4-BE49-F238E27FC236}">
                <a16:creationId xmlns:a16="http://schemas.microsoft.com/office/drawing/2014/main" id="{581C9933-AB6A-46EC-9648-2E0EA838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Why change?</a:t>
            </a:r>
          </a:p>
        </p:txBody>
      </p:sp>
      <p:sp>
        <p:nvSpPr>
          <p:cNvPr id="12" name="s10-flow-2">
            <a:extLst xmlns:a="http://schemas.openxmlformats.org/drawingml/2006/main">
              <a:ext uri="{FF2B5EF4-FFF2-40B4-BE49-F238E27FC236}">
                <a16:creationId xmlns:a16="http://schemas.microsoft.com/office/drawing/2014/main" id="{E7B874F8-A824-478E-BF07-AD67D79E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s10-flow-rule-2">
            <a:extLst xmlns:a="http://schemas.openxmlformats.org/drawingml/2006/main">
              <a:ext uri="{FF2B5EF4-FFF2-40B4-BE49-F238E27FC236}">
                <a16:creationId xmlns:a16="http://schemas.microsoft.com/office/drawing/2014/main" id="{E722515E-08EE-4E54-9FF5-A806FA18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0-flow-title-2">
            <a:extLst xmlns:a="http://schemas.openxmlformats.org/drawingml/2006/main">
              <a:ext uri="{FF2B5EF4-FFF2-40B4-BE49-F238E27FC236}">
                <a16:creationId xmlns:a16="http://schemas.microsoft.com/office/drawing/2014/main" id="{908068B5-EBB4-4861-A549-6B84AF69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15" name="s10-flow-sub-2">
            <a:extLst xmlns:a="http://schemas.openxmlformats.org/drawingml/2006/main">
              <a:ext uri="{FF2B5EF4-FFF2-40B4-BE49-F238E27FC236}">
                <a16:creationId xmlns:a16="http://schemas.microsoft.com/office/drawing/2014/main" id="{1FCA1079-1BBF-4A6F-8369-1FC4959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Isolate work</a:t>
            </a:r>
          </a:p>
        </p:txBody>
      </p:sp>
      <p:sp>
        <p:nvSpPr>
          <p:cNvPr id="16" name="s10-flow-3">
            <a:extLst xmlns:a="http://schemas.openxmlformats.org/drawingml/2006/main">
              <a:ext uri="{FF2B5EF4-FFF2-40B4-BE49-F238E27FC236}">
                <a16:creationId xmlns:a16="http://schemas.microsoft.com/office/drawing/2014/main" id="{8E4DB763-3720-4614-A9C9-F376999B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s10-flow-rule-3">
            <a:extLst xmlns:a="http://schemas.openxmlformats.org/drawingml/2006/main">
              <a:ext uri="{FF2B5EF4-FFF2-40B4-BE49-F238E27FC236}">
                <a16:creationId xmlns:a16="http://schemas.microsoft.com/office/drawing/2014/main" id="{9349606E-F9BC-46FD-837B-8D79030B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0-flow-title-3">
            <a:extLst xmlns:a="http://schemas.openxmlformats.org/drawingml/2006/main">
              <a:ext uri="{FF2B5EF4-FFF2-40B4-BE49-F238E27FC236}">
                <a16:creationId xmlns:a16="http://schemas.microsoft.com/office/drawing/2014/main" id="{04A9B9CF-F144-459F-BC67-7AFEB194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Pull request</a:t>
            </a:r>
          </a:p>
        </p:txBody>
      </p:sp>
      <p:sp>
        <p:nvSpPr>
          <p:cNvPr id="19" name="s10-flow-sub-3">
            <a:extLst xmlns:a="http://schemas.openxmlformats.org/drawingml/2006/main">
              <a:ext uri="{FF2B5EF4-FFF2-40B4-BE49-F238E27FC236}">
                <a16:creationId xmlns:a16="http://schemas.microsoft.com/office/drawing/2014/main" id="{0EBEF4B3-AB04-4308-9682-50599F16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Explain change</a:t>
            </a:r>
          </a:p>
        </p:txBody>
      </p:sp>
      <p:sp>
        <p:nvSpPr>
          <p:cNvPr id="20" name="s10-flow-4">
            <a:extLst xmlns:a="http://schemas.openxmlformats.org/drawingml/2006/main">
              <a:ext uri="{FF2B5EF4-FFF2-40B4-BE49-F238E27FC236}">
                <a16:creationId xmlns:a16="http://schemas.microsoft.com/office/drawing/2014/main" id="{1A2BD25F-C71E-44F3-8319-974AA60D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1" name="s10-flow-rule-4">
            <a:extLst xmlns:a="http://schemas.openxmlformats.org/drawingml/2006/main">
              <a:ext uri="{FF2B5EF4-FFF2-40B4-BE49-F238E27FC236}">
                <a16:creationId xmlns:a16="http://schemas.microsoft.com/office/drawing/2014/main" id="{A4403150-2C24-4EFD-8E49-3C0977FE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0-flow-title-4">
            <a:extLst xmlns:a="http://schemas.openxmlformats.org/drawingml/2006/main">
              <a:ext uri="{FF2B5EF4-FFF2-40B4-BE49-F238E27FC236}">
                <a16:creationId xmlns:a16="http://schemas.microsoft.com/office/drawing/2014/main" id="{74961BD4-D865-4EC5-8099-7D0145F2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Review + CI</a:t>
            </a:r>
          </a:p>
        </p:txBody>
      </p:sp>
      <p:sp>
        <p:nvSpPr>
          <p:cNvPr id="23" name="s10-flow-sub-4">
            <a:extLst xmlns:a="http://schemas.openxmlformats.org/drawingml/2006/main">
              <a:ext uri="{FF2B5EF4-FFF2-40B4-BE49-F238E27FC236}">
                <a16:creationId xmlns:a16="http://schemas.microsoft.com/office/drawing/2014/main" id="{B3143D2C-791F-4EDF-B6F1-764470FE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Check quality</a:t>
            </a:r>
          </a:p>
        </p:txBody>
      </p:sp>
      <p:sp>
        <p:nvSpPr>
          <p:cNvPr id="24" name="s10-flow-5">
            <a:extLst xmlns:a="http://schemas.openxmlformats.org/drawingml/2006/main">
              <a:ext uri="{FF2B5EF4-FFF2-40B4-BE49-F238E27FC236}">
                <a16:creationId xmlns:a16="http://schemas.microsoft.com/office/drawing/2014/main" id="{2B282F63-8538-4804-B358-6C344B4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5" name="s10-flow-rule-5">
            <a:extLst xmlns:a="http://schemas.openxmlformats.org/drawingml/2006/main">
              <a:ext uri="{FF2B5EF4-FFF2-40B4-BE49-F238E27FC236}">
                <a16:creationId xmlns:a16="http://schemas.microsoft.com/office/drawing/2014/main" id="{4EC36187-1EA8-43DF-B407-01C17AE1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0-flow-title-5">
            <a:extLst xmlns:a="http://schemas.openxmlformats.org/drawingml/2006/main">
              <a:ext uri="{FF2B5EF4-FFF2-40B4-BE49-F238E27FC236}">
                <a16:creationId xmlns:a16="http://schemas.microsoft.com/office/drawing/2014/main" id="{278B975D-C909-472D-980D-57B2F1F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Merge</a:t>
            </a:r>
          </a:p>
        </p:txBody>
      </p:sp>
      <p:sp>
        <p:nvSpPr>
          <p:cNvPr id="27" name="s10-flow-sub-5">
            <a:extLst xmlns:a="http://schemas.openxmlformats.org/drawingml/2006/main">
              <a:ext uri="{FF2B5EF4-FFF2-40B4-BE49-F238E27FC236}">
                <a16:creationId xmlns:a16="http://schemas.microsoft.com/office/drawing/2014/main" id="{DFDFC090-99EC-432F-A509-0F688BF6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Record decision</a:t>
            </a:r>
          </a:p>
        </p:txBody>
      </p:sp>
      <p:sp>
        <p:nvSpPr>
          <p:cNvPr id="28" name="s10-source">
            <a:extLst xmlns:a="http://schemas.openxmlformats.org/drawingml/2006/main">
              <a:ext uri="{FF2B5EF4-FFF2-40B4-BE49-F238E27FC236}">
                <a16:creationId xmlns:a16="http://schemas.microsoft.com/office/drawing/2014/main" id="{1959D6F0-0E8F-4A63-A8C5-BDFE3187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Source: Gitea pull request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729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11-top-rule">
            <a:extLst xmlns:a="http://schemas.openxmlformats.org/drawingml/2006/main">
              <a:ext uri="{FF2B5EF4-FFF2-40B4-BE49-F238E27FC236}">
                <a16:creationId xmlns:a16="http://schemas.microsoft.com/office/drawing/2014/main" id="{72325CB0-C5AA-47CB-9205-51CE938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AA78D704-8633-4D44-8E6E-1A685905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Pull Request</a:t>
            </a:r>
          </a:p>
        </p:txBody>
      </p:sp>
      <p:sp>
        <p:nvSpPr>
          <p:cNvPr id="3" name="s11-slide-title">
            <a:extLst xmlns:a="http://schemas.openxmlformats.org/drawingml/2006/main">
              <a:ext uri="{FF2B5EF4-FFF2-40B4-BE49-F238E27FC236}">
                <a16:creationId xmlns:a16="http://schemas.microsoft.com/office/drawing/2014/main" id="{5537AE61-E51A-424F-BF92-5910620A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Review the intent, the diff, and the evidence</a:t>
            </a:r>
          </a:p>
        </p:txBody>
      </p:sp>
      <p:sp>
        <p:nvSpPr>
          <p:cNvPr id="4" name="s11-intent-panel">
            <a:extLst xmlns:a="http://schemas.openxmlformats.org/drawingml/2006/main">
              <a:ext uri="{FF2B5EF4-FFF2-40B4-BE49-F238E27FC236}">
                <a16:creationId xmlns:a16="http://schemas.microsoft.com/office/drawing/2014/main" id="{7C719B27-A1C5-47D7-8E8B-2365365E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" name="s11-intent-rule">
            <a:extLst xmlns:a="http://schemas.openxmlformats.org/drawingml/2006/main">
              <a:ext uri="{FF2B5EF4-FFF2-40B4-BE49-F238E27FC236}">
                <a16:creationId xmlns:a16="http://schemas.microsoft.com/office/drawing/2014/main" id="{6DC8F935-5152-40DB-B9B0-3A400A6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1-intent-heading">
            <a:extLst xmlns:a="http://schemas.openxmlformats.org/drawingml/2006/main">
              <a:ext uri="{FF2B5EF4-FFF2-40B4-BE49-F238E27FC236}">
                <a16:creationId xmlns:a16="http://schemas.microsoft.com/office/drawing/2014/main" id="{E266F0A0-1A10-47E1-B6D0-74BDF649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7" name="s11-intent-body">
            <a:extLst xmlns:a="http://schemas.openxmlformats.org/drawingml/2006/main">
              <a:ext uri="{FF2B5EF4-FFF2-40B4-BE49-F238E27FC236}">
                <a16:creationId xmlns:a16="http://schemas.microsoft.com/office/drawing/2014/main" id="{62940648-4FCD-418D-9063-D11482C7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Use a descriptive title, explain the reason, and link the issue with Closes #1.</a:t>
            </a:r>
          </a:p>
        </p:txBody>
      </p:sp>
      <p:sp>
        <p:nvSpPr>
          <p:cNvPr id="8" name="s11-diff-panel">
            <a:extLst xmlns:a="http://schemas.openxmlformats.org/drawingml/2006/main">
              <a:ext uri="{FF2B5EF4-FFF2-40B4-BE49-F238E27FC236}">
                <a16:creationId xmlns:a16="http://schemas.microsoft.com/office/drawing/2014/main" id="{199AA37D-D1DF-4B8C-A7D0-4AC07D0A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11-diff-rule">
            <a:extLst xmlns:a="http://schemas.openxmlformats.org/drawingml/2006/main">
              <a:ext uri="{FF2B5EF4-FFF2-40B4-BE49-F238E27FC236}">
                <a16:creationId xmlns:a16="http://schemas.microsoft.com/office/drawing/2014/main" id="{C87EDABD-A4A2-4F44-A6FF-525A8427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1-diff-heading">
            <a:extLst xmlns:a="http://schemas.openxmlformats.org/drawingml/2006/main">
              <a:ext uri="{FF2B5EF4-FFF2-40B4-BE49-F238E27FC236}">
                <a16:creationId xmlns:a16="http://schemas.microsoft.com/office/drawing/2014/main" id="{8DAC67BE-4C34-45DA-970B-5B16A51D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Diff</a:t>
            </a:r>
          </a:p>
        </p:txBody>
      </p:sp>
      <p:sp>
        <p:nvSpPr>
          <p:cNvPr id="11" name="s11-diff-body">
            <a:extLst xmlns:a="http://schemas.openxmlformats.org/drawingml/2006/main">
              <a:ext uri="{FF2B5EF4-FFF2-40B4-BE49-F238E27FC236}">
                <a16:creationId xmlns:a16="http://schemas.microsoft.com/office/drawing/2014/main" id="{DAEC94A9-CE82-41D2-8810-EA42BE87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289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Comment on exact lines, request changes, or approve the proposed branch.</a:t>
            </a:r>
          </a:p>
        </p:txBody>
      </p:sp>
      <p:sp>
        <p:nvSpPr>
          <p:cNvPr id="12" name="s11-evidence-panel">
            <a:extLst xmlns:a="http://schemas.openxmlformats.org/drawingml/2006/main">
              <a:ext uri="{FF2B5EF4-FFF2-40B4-BE49-F238E27FC236}">
                <a16:creationId xmlns:a16="http://schemas.microsoft.com/office/drawing/2014/main" id="{6C6095CD-3F7C-4750-94FB-22DCC79D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s11-evidence-rule">
            <a:extLst xmlns:a="http://schemas.openxmlformats.org/drawingml/2006/main">
              <a:ext uri="{FF2B5EF4-FFF2-40B4-BE49-F238E27FC236}">
                <a16:creationId xmlns:a16="http://schemas.microsoft.com/office/drawing/2014/main" id="{4822107D-F179-45BC-BC60-96DF0221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1-evidence-heading">
            <a:extLst xmlns:a="http://schemas.openxmlformats.org/drawingml/2006/main">
              <a:ext uri="{FF2B5EF4-FFF2-40B4-BE49-F238E27FC236}">
                <a16:creationId xmlns:a16="http://schemas.microsoft.com/office/drawing/2014/main" id="{95384432-D864-4C57-B9C6-6B607AB3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5" name="s11-evidence-body">
            <a:extLst xmlns:a="http://schemas.openxmlformats.org/drawingml/2006/main">
              <a:ext uri="{FF2B5EF4-FFF2-40B4-BE49-F238E27FC236}">
                <a16:creationId xmlns:a16="http://schemas.microsoft.com/office/drawing/2014/main" id="{1AC60902-C68E-4314-B5ED-8A6DBBED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Require tests and status checks before the merge button becomes available.</a:t>
            </a:r>
          </a:p>
        </p:txBody>
      </p:sp>
      <p:sp>
        <p:nvSpPr>
          <p:cNvPr id="16" name="s11-demo">
            <a:extLst xmlns:a="http://schemas.openxmlformats.org/drawingml/2006/main">
              <a:ext uri="{FF2B5EF4-FFF2-40B4-BE49-F238E27FC236}">
                <a16:creationId xmlns:a16="http://schemas.microsoft.com/office/drawing/2014/main" id="{76F84469-CF95-48EA-8EF4-F6036686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Demo: request one change → push fix → approve → merge</a:t>
            </a:r>
          </a:p>
        </p:txBody>
      </p:sp>
    </p:spTree>
    <p:extLst>
      <p:ext uri="{BB962C8B-B14F-4D97-AF65-F5344CB8AC3E}">
        <p14:creationId xmlns:p14="http://schemas.microsoft.com/office/powerpoint/2010/main" val="15012802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12-top-rule">
            <a:extLst xmlns:a="http://schemas.openxmlformats.org/drawingml/2006/main">
              <a:ext uri="{FF2B5EF4-FFF2-40B4-BE49-F238E27FC236}">
                <a16:creationId xmlns:a16="http://schemas.microsoft.com/office/drawing/2014/main" id="{BB0E5491-1539-48DC-BD39-44FC66C6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5830DE82-A558-476C-B471-A3848E7B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Branch Protection</a:t>
            </a:r>
          </a:p>
        </p:txBody>
      </p:sp>
      <p:sp>
        <p:nvSpPr>
          <p:cNvPr id="3" name="s12-slide-title">
            <a:extLst xmlns:a="http://schemas.openxmlformats.org/drawingml/2006/main">
              <a:ext uri="{FF2B5EF4-FFF2-40B4-BE49-F238E27FC236}">
                <a16:creationId xmlns:a16="http://schemas.microsoft.com/office/drawing/2014/main" id="{3BD8578E-59AD-410B-B4DF-783A7737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Turn the team agreement into an enforced rule</a:t>
            </a:r>
          </a:p>
        </p:txBody>
      </p:sp>
      <p:sp>
        <p:nvSpPr>
          <p:cNvPr id="4" name="s12-bullets">
            <a:extLst xmlns:a="http://schemas.openxmlformats.org/drawingml/2006/main">
              <a:ext uri="{FF2B5EF4-FFF2-40B4-BE49-F238E27FC236}">
                <a16:creationId xmlns:a16="http://schemas.microsoft.com/office/drawing/2014/main" id="{073A77A0-3139-4C99-89E3-2CFD4872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00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4"/>
              </a:spcAft>
              <a:buNone/>
              <a:defRPr sz="18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Block direct pushes to main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4"/>
              </a:spcAft>
              <a:buNone/>
              <a:defRPr sz="18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Require one approval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4"/>
              </a:spcAft>
              <a:buNone/>
              <a:defRPr sz="18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Dismiss stale approvals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4"/>
              </a:spcAft>
              <a:buNone/>
              <a:defRPr sz="18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Require successful status checks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4"/>
              </a:spcAft>
              <a:buNone/>
              <a:defRPr sz="18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Apply rules to administrators</a:t>
            </a:r>
          </a:p>
        </p:txBody>
      </p:sp>
      <p:sp>
        <p:nvSpPr>
          <p:cNvPr id="5" name="s12-rule-panel">
            <a:extLst xmlns:a="http://schemas.openxmlformats.org/drawingml/2006/main">
              <a:ext uri="{FF2B5EF4-FFF2-40B4-BE49-F238E27FC236}">
                <a16:creationId xmlns:a16="http://schemas.microsoft.com/office/drawing/2014/main" id="{15B20119-1997-49E1-823E-03DD8B09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6" name="s12-rule-rule">
            <a:extLst xmlns:a="http://schemas.openxmlformats.org/drawingml/2006/main">
              <a:ext uri="{FF2B5EF4-FFF2-40B4-BE49-F238E27FC236}">
                <a16:creationId xmlns:a16="http://schemas.microsoft.com/office/drawing/2014/main" id="{19972377-9F60-443B-8563-DE22DABE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12-rule-heading">
            <a:extLst xmlns:a="http://schemas.openxmlformats.org/drawingml/2006/main">
              <a:ext uri="{FF2B5EF4-FFF2-40B4-BE49-F238E27FC236}">
                <a16:creationId xmlns:a16="http://schemas.microsoft.com/office/drawing/2014/main" id="{32BF41C8-B747-44AB-8F1C-A2F86507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Settings → Branches</a:t>
            </a:r>
          </a:p>
        </p:txBody>
      </p:sp>
      <p:sp>
        <p:nvSpPr>
          <p:cNvPr id="8" name="s12-rule-body">
            <a:extLst xmlns:a="http://schemas.openxmlformats.org/drawingml/2006/main">
              <a:ext uri="{FF2B5EF4-FFF2-40B4-BE49-F238E27FC236}">
                <a16:creationId xmlns:a16="http://schemas.microsoft.com/office/drawing/2014/main" id="{0B84B535-70F9-4B95-AF84-A1B920DF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333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Create a rule for main. For release branches, use release/*. Put specific patterns ahead of broad fallbacks.</a:t>
            </a:r>
          </a:p>
        </p:txBody>
      </p:sp>
      <p:sp>
        <p:nvSpPr>
          <p:cNvPr id="9" name="s12-source">
            <a:extLst xmlns:a="http://schemas.openxmlformats.org/drawingml/2006/main">
              <a:ext uri="{FF2B5EF4-FFF2-40B4-BE49-F238E27FC236}">
                <a16:creationId xmlns:a16="http://schemas.microsoft.com/office/drawing/2014/main" id="{1CABBA25-8B32-4015-9852-3A425B64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Source: Gitea protected branches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2306047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13-top-rule">
            <a:extLst xmlns:a="http://schemas.openxmlformats.org/drawingml/2006/main">
              <a:ext uri="{FF2B5EF4-FFF2-40B4-BE49-F238E27FC236}">
                <a16:creationId xmlns:a16="http://schemas.microsoft.com/office/drawing/2014/main" id="{BFC1E94C-A971-4818-BD0F-BA9EC2CF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2A6FD060-D858-4CB6-8F43-C287532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Gitea Actions</a:t>
            </a:r>
          </a:p>
        </p:txBody>
      </p:sp>
      <p:sp>
        <p:nvSpPr>
          <p:cNvPr id="3" name="s13-slide-title">
            <a:extLst xmlns:a="http://schemas.openxmlformats.org/drawingml/2006/main">
              <a:ext uri="{FF2B5EF4-FFF2-40B4-BE49-F238E27FC236}">
                <a16:creationId xmlns:a16="http://schemas.microsoft.com/office/drawing/2014/main" id="{ACC76580-8A9B-40B5-8F99-71558225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A workflow file turns every push into evidence</a:t>
            </a:r>
          </a:p>
        </p:txBody>
      </p:sp>
      <p:sp>
        <p:nvSpPr>
          <p:cNvPr id="4" name="s13-code-panel">
            <a:extLst xmlns:a="http://schemas.openxmlformats.org/drawingml/2006/main">
              <a:ext uri="{FF2B5EF4-FFF2-40B4-BE49-F238E27FC236}">
                <a16:creationId xmlns:a16="http://schemas.microsoft.com/office/drawing/2014/main" id="{85B46B42-4DAD-41F6-882B-564578C4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2E3A44"/>
            </a:solidFill>
            <a:prstDash val="solid"/>
          </a:ln>
        </p:spPr>
      </p:sp>
      <p:sp>
        <p:nvSpPr>
          <p:cNvPr id="5" name="s13-code">
            <a:extLst xmlns:a="http://schemas.openxmlformats.org/drawingml/2006/main">
              <a:ext uri="{FF2B5EF4-FFF2-40B4-BE49-F238E27FC236}">
                <a16:creationId xmlns:a16="http://schemas.microsoft.com/office/drawing/2014/main" id="{C0B16FE7-6EE0-462F-9397-E32C285A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04013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# .gitea/workflows/test.yaml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name: test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on: [push, pull_request]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permissions: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contents: 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jobs: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test: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  runs-on: ubuntu-latest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  steps: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    - uses: actions/checkout@v4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    - run: test "$(cat greeting.txt)" = "Hello from Gitea"</a:t>
            </a:r>
          </a:p>
        </p:txBody>
      </p:sp>
      <p:sp>
        <p:nvSpPr>
          <p:cNvPr id="6" name="s13-source">
            <a:extLst xmlns:a="http://schemas.openxmlformats.org/drawingml/2006/main">
              <a:ext uri="{FF2B5EF4-FFF2-40B4-BE49-F238E27FC236}">
                <a16:creationId xmlns:a16="http://schemas.microsoft.com/office/drawing/2014/main" id="{03F42FCF-E2BC-4ABD-9606-479054F9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Sources: Gitea Actions quick start and job token permissions.</a:t>
            </a:r>
          </a:p>
        </p:txBody>
      </p:sp>
    </p:spTree>
    <p:extLst>
      <p:ext uri="{BB962C8B-B14F-4D97-AF65-F5344CB8AC3E}">
        <p14:creationId xmlns:p14="http://schemas.microsoft.com/office/powerpoint/2010/main" val="10053660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14-top-rule">
            <a:extLst xmlns:a="http://schemas.openxmlformats.org/drawingml/2006/main">
              <a:ext uri="{FF2B5EF4-FFF2-40B4-BE49-F238E27FC236}">
                <a16:creationId xmlns:a16="http://schemas.microsoft.com/office/drawing/2014/main" id="{AA10FE68-1CFF-4273-B337-3A8B0DD7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4-eyebrow">
            <a:extLst xmlns:a="http://schemas.openxmlformats.org/drawingml/2006/main">
              <a:ext uri="{FF2B5EF4-FFF2-40B4-BE49-F238E27FC236}">
                <a16:creationId xmlns:a16="http://schemas.microsoft.com/office/drawing/2014/main" id="{615324F2-12F4-4E1E-90AB-42066353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Runner Boundary</a:t>
            </a:r>
          </a:p>
        </p:txBody>
      </p:sp>
      <p:sp>
        <p:nvSpPr>
          <p:cNvPr id="3" name="s14-slide-title">
            <a:extLst xmlns:a="http://schemas.openxmlformats.org/drawingml/2006/main">
              <a:ext uri="{FF2B5EF4-FFF2-40B4-BE49-F238E27FC236}">
                <a16:creationId xmlns:a16="http://schemas.microsoft.com/office/drawing/2014/main" id="{FF3757F4-7111-44A0-91E5-387A8AEA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The server schedules; the runner executes</a:t>
            </a:r>
          </a:p>
        </p:txBody>
      </p:sp>
      <p:sp>
        <p:nvSpPr>
          <p:cNvPr id="4" name="s14-arrow-1">
            <a:extLst xmlns:a="http://schemas.openxmlformats.org/drawingml/2006/main">
              <a:ext uri="{FF2B5EF4-FFF2-40B4-BE49-F238E27FC236}">
                <a16:creationId xmlns:a16="http://schemas.microsoft.com/office/drawing/2014/main" id="{BFF1EE5B-6E4F-4EBF-8F2F-9A1D74AB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384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" name="s14-arrow-2">
            <a:extLst xmlns:a="http://schemas.openxmlformats.org/drawingml/2006/main">
              <a:ext uri="{FF2B5EF4-FFF2-40B4-BE49-F238E27FC236}">
                <a16:creationId xmlns:a16="http://schemas.microsoft.com/office/drawing/2014/main" id="{FDA642CB-416E-46CC-9CC8-41A7CE9C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384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" name="s14-arrow-3">
            <a:extLst xmlns:a="http://schemas.openxmlformats.org/drawingml/2006/main">
              <a:ext uri="{FF2B5EF4-FFF2-40B4-BE49-F238E27FC236}">
                <a16:creationId xmlns:a16="http://schemas.microsoft.com/office/drawing/2014/main" id="{F0D48B95-0EE9-4993-8533-048FD2C8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s14-arrow-4">
            <a:extLst xmlns:a="http://schemas.openxmlformats.org/drawingml/2006/main">
              <a:ext uri="{FF2B5EF4-FFF2-40B4-BE49-F238E27FC236}">
                <a16:creationId xmlns:a16="http://schemas.microsoft.com/office/drawing/2014/main" id="{FE5B7FE1-D819-443B-A15C-FA3BE3F1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s14-flow-1">
            <a:extLst xmlns:a="http://schemas.openxmlformats.org/drawingml/2006/main">
              <a:ext uri="{FF2B5EF4-FFF2-40B4-BE49-F238E27FC236}">
                <a16:creationId xmlns:a16="http://schemas.microsoft.com/office/drawing/2014/main" id="{59263894-E1FF-482A-AACC-B00F371F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14-flow-rule-1">
            <a:extLst xmlns:a="http://schemas.openxmlformats.org/drawingml/2006/main">
              <a:ext uri="{FF2B5EF4-FFF2-40B4-BE49-F238E27FC236}">
                <a16:creationId xmlns:a16="http://schemas.microsoft.com/office/drawing/2014/main" id="{BD29F819-7D72-4E58-950C-07AAB3E9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4-flow-title-1">
            <a:extLst xmlns:a="http://schemas.openxmlformats.org/drawingml/2006/main">
              <a:ext uri="{FF2B5EF4-FFF2-40B4-BE49-F238E27FC236}">
                <a16:creationId xmlns:a16="http://schemas.microsoft.com/office/drawing/2014/main" id="{B94DD222-AFEE-40B7-92EF-70B2ABF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Push / PR</a:t>
            </a:r>
          </a:p>
        </p:txBody>
      </p:sp>
      <p:sp>
        <p:nvSpPr>
          <p:cNvPr id="11" name="s14-flow-sub-1">
            <a:extLst xmlns:a="http://schemas.openxmlformats.org/drawingml/2006/main">
              <a:ext uri="{FF2B5EF4-FFF2-40B4-BE49-F238E27FC236}">
                <a16:creationId xmlns:a16="http://schemas.microsoft.com/office/drawing/2014/main" id="{1F1C54BD-7F71-4753-B357-C4778E32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12" name="s14-flow-2">
            <a:extLst xmlns:a="http://schemas.openxmlformats.org/drawingml/2006/main">
              <a:ext uri="{FF2B5EF4-FFF2-40B4-BE49-F238E27FC236}">
                <a16:creationId xmlns:a16="http://schemas.microsoft.com/office/drawing/2014/main" id="{5761B4C4-29D9-4AE0-8428-0B47C379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s14-flow-rule-2">
            <a:extLst xmlns:a="http://schemas.openxmlformats.org/drawingml/2006/main">
              <a:ext uri="{FF2B5EF4-FFF2-40B4-BE49-F238E27FC236}">
                <a16:creationId xmlns:a16="http://schemas.microsoft.com/office/drawing/2014/main" id="{D6456A31-5B6A-4D8E-BC80-53E0793E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4-flow-title-2">
            <a:extLst xmlns:a="http://schemas.openxmlformats.org/drawingml/2006/main">
              <a:ext uri="{FF2B5EF4-FFF2-40B4-BE49-F238E27FC236}">
                <a16:creationId xmlns:a16="http://schemas.microsoft.com/office/drawing/2014/main" id="{A6DDA922-AB8D-48FF-818A-A198A001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Gitea</a:t>
            </a:r>
          </a:p>
        </p:txBody>
      </p:sp>
      <p:sp>
        <p:nvSpPr>
          <p:cNvPr id="15" name="s14-flow-sub-2">
            <a:extLst xmlns:a="http://schemas.openxmlformats.org/drawingml/2006/main">
              <a:ext uri="{FF2B5EF4-FFF2-40B4-BE49-F238E27FC236}">
                <a16:creationId xmlns:a16="http://schemas.microsoft.com/office/drawing/2014/main" id="{F14A86CF-C4AB-487D-BB83-E1FF243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Queues job</a:t>
            </a:r>
          </a:p>
        </p:txBody>
      </p:sp>
      <p:sp>
        <p:nvSpPr>
          <p:cNvPr id="16" name="s14-flow-3">
            <a:extLst xmlns:a="http://schemas.openxmlformats.org/drawingml/2006/main">
              <a:ext uri="{FF2B5EF4-FFF2-40B4-BE49-F238E27FC236}">
                <a16:creationId xmlns:a16="http://schemas.microsoft.com/office/drawing/2014/main" id="{84EBEF03-215B-446B-A497-AC5477A6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s14-flow-rule-3">
            <a:extLst xmlns:a="http://schemas.openxmlformats.org/drawingml/2006/main">
              <a:ext uri="{FF2B5EF4-FFF2-40B4-BE49-F238E27FC236}">
                <a16:creationId xmlns:a16="http://schemas.microsoft.com/office/drawing/2014/main" id="{1BD393C5-3C32-4858-9614-A06D248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4-flow-title-3">
            <a:extLst xmlns:a="http://schemas.openxmlformats.org/drawingml/2006/main">
              <a:ext uri="{FF2B5EF4-FFF2-40B4-BE49-F238E27FC236}">
                <a16:creationId xmlns:a16="http://schemas.microsoft.com/office/drawing/2014/main" id="{662338BA-EDFE-444C-815E-948CDFAE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Runner</a:t>
            </a:r>
          </a:p>
        </p:txBody>
      </p:sp>
      <p:sp>
        <p:nvSpPr>
          <p:cNvPr id="19" name="s14-flow-sub-3">
            <a:extLst xmlns:a="http://schemas.openxmlformats.org/drawingml/2006/main">
              <a:ext uri="{FF2B5EF4-FFF2-40B4-BE49-F238E27FC236}">
                <a16:creationId xmlns:a16="http://schemas.microsoft.com/office/drawing/2014/main" id="{B61939F3-83B0-4C1B-8F4B-FC3589AB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623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Polls server</a:t>
            </a:r>
          </a:p>
        </p:txBody>
      </p:sp>
      <p:sp>
        <p:nvSpPr>
          <p:cNvPr id="20" name="s14-flow-4">
            <a:extLst xmlns:a="http://schemas.openxmlformats.org/drawingml/2006/main">
              <a:ext uri="{FF2B5EF4-FFF2-40B4-BE49-F238E27FC236}">
                <a16:creationId xmlns:a16="http://schemas.microsoft.com/office/drawing/2014/main" id="{D738326A-57A9-4A11-821C-BA53E29C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1" name="s14-flow-rule-4">
            <a:extLst xmlns:a="http://schemas.openxmlformats.org/drawingml/2006/main">
              <a:ext uri="{FF2B5EF4-FFF2-40B4-BE49-F238E27FC236}">
                <a16:creationId xmlns:a16="http://schemas.microsoft.com/office/drawing/2014/main" id="{674C25BC-CCB4-4532-832A-09C562D4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4-flow-title-4">
            <a:extLst xmlns:a="http://schemas.openxmlformats.org/drawingml/2006/main">
              <a:ext uri="{FF2B5EF4-FFF2-40B4-BE49-F238E27FC236}">
                <a16:creationId xmlns:a16="http://schemas.microsoft.com/office/drawing/2014/main" id="{9B364615-E5C2-4378-9387-0EC67CD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23" name="s14-flow-sub-4">
            <a:extLst xmlns:a="http://schemas.openxmlformats.org/drawingml/2006/main">
              <a:ext uri="{FF2B5EF4-FFF2-40B4-BE49-F238E27FC236}">
                <a16:creationId xmlns:a16="http://schemas.microsoft.com/office/drawing/2014/main" id="{30CDAFA3-C35A-44B7-A06D-7C8D65D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Runs isolated</a:t>
            </a:r>
          </a:p>
        </p:txBody>
      </p:sp>
      <p:sp>
        <p:nvSpPr>
          <p:cNvPr id="24" name="s14-flow-5">
            <a:extLst xmlns:a="http://schemas.openxmlformats.org/drawingml/2006/main">
              <a:ext uri="{FF2B5EF4-FFF2-40B4-BE49-F238E27FC236}">
                <a16:creationId xmlns:a16="http://schemas.microsoft.com/office/drawing/2014/main" id="{76A5646B-489B-400E-B2B3-B4C8C91B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981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5" name="s14-flow-rule-5">
            <a:extLst xmlns:a="http://schemas.openxmlformats.org/drawingml/2006/main">
              <a:ext uri="{FF2B5EF4-FFF2-40B4-BE49-F238E27FC236}">
                <a16:creationId xmlns:a16="http://schemas.microsoft.com/office/drawing/2014/main" id="{70641782-7A8E-40DC-BE5F-49BCCF95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4-flow-title-5">
            <a:extLst xmlns:a="http://schemas.openxmlformats.org/drawingml/2006/main">
              <a:ext uri="{FF2B5EF4-FFF2-40B4-BE49-F238E27FC236}">
                <a16:creationId xmlns:a16="http://schemas.microsoft.com/office/drawing/2014/main" id="{398FF0CA-06A6-4D61-BB71-8DE5EF8D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7" name="s14-flow-sub-5">
            <a:extLst xmlns:a="http://schemas.openxmlformats.org/drawingml/2006/main">
              <a:ext uri="{FF2B5EF4-FFF2-40B4-BE49-F238E27FC236}">
                <a16:creationId xmlns:a16="http://schemas.microsoft.com/office/drawing/2014/main" id="{95F0E7E8-9D4F-49FC-8B1D-F1755C5A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Gates merge</a:t>
            </a:r>
          </a:p>
        </p:txBody>
      </p:sp>
      <p:sp>
        <p:nvSpPr>
          <p:cNvPr id="28" name="s14-bullets">
            <a:extLst xmlns:a="http://schemas.openxmlformats.org/drawingml/2006/main">
              <a:ext uri="{FF2B5EF4-FFF2-40B4-BE49-F238E27FC236}">
                <a16:creationId xmlns:a16="http://schemas.microsoft.com/office/drawing/2014/main" id="{726A1B28-4AAF-4057-929E-2B66BAF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0"/>
              </a:spcAft>
              <a:buNone/>
              <a:defRPr sz="15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Do not register the runner with localhost; job environments must reach the instance URL.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0"/>
              </a:spcAft>
              <a:buNone/>
              <a:defRPr sz="15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Treat runners as code-execution infrastructure, not as harmless agents.</a:t>
            </a:r>
          </a:p>
        </p:txBody>
      </p:sp>
    </p:spTree>
    <p:extLst>
      <p:ext uri="{BB962C8B-B14F-4D97-AF65-F5344CB8AC3E}">
        <p14:creationId xmlns:p14="http://schemas.microsoft.com/office/powerpoint/2010/main" val="21078745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15-top-rule">
            <a:extLst xmlns:a="http://schemas.openxmlformats.org/drawingml/2006/main">
              <a:ext uri="{FF2B5EF4-FFF2-40B4-BE49-F238E27FC236}">
                <a16:creationId xmlns:a16="http://schemas.microsoft.com/office/drawing/2014/main" id="{D962EA2E-15E6-4769-9A8B-9DF6EF2D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5-eyebrow">
            <a:extLst xmlns:a="http://schemas.openxmlformats.org/drawingml/2006/main">
              <a:ext uri="{FF2B5EF4-FFF2-40B4-BE49-F238E27FC236}">
                <a16:creationId xmlns:a16="http://schemas.microsoft.com/office/drawing/2014/main" id="{E4CFC6C9-4B0B-4FAE-8823-D838F3AC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Package Registry</a:t>
            </a:r>
          </a:p>
        </p:txBody>
      </p:sp>
      <p:sp>
        <p:nvSpPr>
          <p:cNvPr id="3" name="s15-slide-title">
            <a:extLst xmlns:a="http://schemas.openxmlformats.org/drawingml/2006/main">
              <a:ext uri="{FF2B5EF4-FFF2-40B4-BE49-F238E27FC236}">
                <a16:creationId xmlns:a16="http://schemas.microsoft.com/office/drawing/2014/main" id="{B5E69042-78F4-4707-9D02-78A9913D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Publish build output beside the source and release</a:t>
            </a:r>
          </a:p>
        </p:txBody>
      </p:sp>
      <p:sp>
        <p:nvSpPr>
          <p:cNvPr id="4" name="s15-code-panel">
            <a:extLst xmlns:a="http://schemas.openxmlformats.org/drawingml/2006/main">
              <a:ext uri="{FF2B5EF4-FFF2-40B4-BE49-F238E27FC236}">
                <a16:creationId xmlns:a16="http://schemas.microsoft.com/office/drawing/2014/main" id="{37AAA073-3FF9-41B9-989E-E5D3012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191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2E3A44"/>
            </a:solidFill>
            <a:prstDash val="solid"/>
          </a:ln>
        </p:spPr>
      </p:sp>
      <p:sp>
        <p:nvSpPr>
          <p:cNvPr id="5" name="s15-code">
            <a:extLst xmlns:a="http://schemas.openxmlformats.org/drawingml/2006/main">
              <a:ext uri="{FF2B5EF4-FFF2-40B4-BE49-F238E27FC236}">
                <a16:creationId xmlns:a16="http://schemas.microsoft.com/office/drawing/2014/main" id="{E23A5D6E-D941-4CE3-A7EE-3401515B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72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# Generic package example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export GITEA_TOKEN='…'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curl --user "patrick:$GITEA_TOKEN"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--upload-file hello.tar.gz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http://localhost:3000/api/packages/tea-lab/generic/hello/1.0.0/hello.tar.gz</a:t>
            </a:r>
          </a:p>
        </p:txBody>
      </p:sp>
      <p:sp>
        <p:nvSpPr>
          <p:cNvPr id="6" name="s15-ecosystems-panel">
            <a:extLst xmlns:a="http://schemas.openxmlformats.org/drawingml/2006/main">
              <a:ext uri="{FF2B5EF4-FFF2-40B4-BE49-F238E27FC236}">
                <a16:creationId xmlns:a16="http://schemas.microsoft.com/office/drawing/2014/main" id="{D19663CA-4DC8-4EAF-B964-19B38340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1719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7" name="s15-ecosystems-rule">
            <a:extLst xmlns:a="http://schemas.openxmlformats.org/drawingml/2006/main">
              <a:ext uri="{FF2B5EF4-FFF2-40B4-BE49-F238E27FC236}">
                <a16:creationId xmlns:a16="http://schemas.microsoft.com/office/drawing/2014/main" id="{A6E1A393-7F70-4DB3-AFE2-4BB190D1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17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5-ecosystems-heading">
            <a:extLst xmlns:a="http://schemas.openxmlformats.org/drawingml/2006/main">
              <a:ext uri="{FF2B5EF4-FFF2-40B4-BE49-F238E27FC236}">
                <a16:creationId xmlns:a16="http://schemas.microsoft.com/office/drawing/2014/main" id="{4C03546B-CB6C-424B-979D-6149C6AC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79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One owner, many ecosystems</a:t>
            </a:r>
          </a:p>
        </p:txBody>
      </p:sp>
      <p:sp>
        <p:nvSpPr>
          <p:cNvPr id="9" name="s15-ecosystems-body">
            <a:extLst xmlns:a="http://schemas.openxmlformats.org/drawingml/2006/main">
              <a:ext uri="{FF2B5EF4-FFF2-40B4-BE49-F238E27FC236}">
                <a16:creationId xmlns:a16="http://schemas.microsoft.com/office/drawing/2014/main" id="{F4A58671-D401-4795-8B95-60EA685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7909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OCI containers, Swift, npm, Maven, NuGet, PyPI, Cargo, generic files, and many other formats. Use a personal access token with package write permission.</a:t>
            </a:r>
          </a:p>
        </p:txBody>
      </p:sp>
      <p:sp>
        <p:nvSpPr>
          <p:cNvPr id="10" name="s15-source">
            <a:extLst xmlns:a="http://schemas.openxmlformats.org/drawingml/2006/main">
              <a:ext uri="{FF2B5EF4-FFF2-40B4-BE49-F238E27FC236}">
                <a16:creationId xmlns:a16="http://schemas.microsoft.com/office/drawing/2014/main" id="{3B698BEE-F417-44BB-B7FA-8313F89D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Sources: Gitea package registry overview and generic package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2006727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16-top-rule">
            <a:extLst xmlns:a="http://schemas.openxmlformats.org/drawingml/2006/main">
              <a:ext uri="{FF2B5EF4-FFF2-40B4-BE49-F238E27FC236}">
                <a16:creationId xmlns:a16="http://schemas.microsoft.com/office/drawing/2014/main" id="{FFB39692-23D5-483C-90D2-C9B7E13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6-eyebrow">
            <a:extLst xmlns:a="http://schemas.openxmlformats.org/drawingml/2006/main">
              <a:ext uri="{FF2B5EF4-FFF2-40B4-BE49-F238E27FC236}">
                <a16:creationId xmlns:a16="http://schemas.microsoft.com/office/drawing/2014/main" id="{9CF5529C-A433-46C3-8A2D-717DA8D2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3" name="s16-slide-title">
            <a:extLst xmlns:a="http://schemas.openxmlformats.org/drawingml/2006/main">
              <a:ext uri="{FF2B5EF4-FFF2-40B4-BE49-F238E27FC236}">
                <a16:creationId xmlns:a16="http://schemas.microsoft.com/office/drawing/2014/main" id="{DB35C587-8A0E-49B0-B8D4-A7D046EF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Automate the forge through stable interfaces</a:t>
            </a:r>
          </a:p>
        </p:txBody>
      </p:sp>
      <p:sp>
        <p:nvSpPr>
          <p:cNvPr id="4" name="s16-code-panel">
            <a:extLst xmlns:a="http://schemas.openxmlformats.org/drawingml/2006/main">
              <a:ext uri="{FF2B5EF4-FFF2-40B4-BE49-F238E27FC236}">
                <a16:creationId xmlns:a16="http://schemas.microsoft.com/office/drawing/2014/main" id="{6B8C9D0E-6E38-4DBD-8C00-A6CB2E4D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19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2E3A44"/>
            </a:solidFill>
            <a:prstDash val="solid"/>
          </a:ln>
        </p:spPr>
      </p:sp>
      <p:sp>
        <p:nvSpPr>
          <p:cNvPr id="5" name="s16-code">
            <a:extLst xmlns:a="http://schemas.openxmlformats.org/drawingml/2006/main">
              <a:ext uri="{FF2B5EF4-FFF2-40B4-BE49-F238E27FC236}">
                <a16:creationId xmlns:a16="http://schemas.microsoft.com/office/drawing/2014/main" id="{1A38B370-D232-4E61-AF0A-17B9C944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5772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# List repositories for an organization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curl --header "Authorization: token $GITEA_TOKEN"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  http://localhost:3000/api/v1/orgs/tea-lab/repos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# Built-in API explorer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DF2F7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DF2F7"/>
                </a:solidFill>
                <a:latin typeface="Menlo"/>
                <a:ea typeface="Menlo"/>
                <a:cs typeface="Menlo"/>
              </a:rPr>
              <a:t>open http://localhost:3000/api/swagger</a:t>
            </a:r>
          </a:p>
        </p:txBody>
      </p:sp>
      <p:sp>
        <p:nvSpPr>
          <p:cNvPr id="6" name="s16-bullets">
            <a:extLst xmlns:a="http://schemas.openxmlformats.org/drawingml/2006/main">
              <a:ext uri="{FF2B5EF4-FFF2-40B4-BE49-F238E27FC236}">
                <a16:creationId xmlns:a16="http://schemas.microsoft.com/office/drawing/2014/main" id="{472FB5FD-857D-44E6-978B-739F7F9C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3905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2"/>
              </a:spcAft>
              <a:buNone/>
              <a:defRPr sz="15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REST API for repositories, issues, pull requests, releases, and administration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2"/>
              </a:spcAft>
              <a:buNone/>
              <a:defRPr sz="15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Webhooks for event-driven integration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2"/>
              </a:spcAft>
              <a:buNone/>
              <a:defRPr sz="150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tea CLI for common Gitea operations</a:t>
            </a:r>
          </a:p>
        </p:txBody>
      </p:sp>
    </p:spTree>
    <p:extLst>
      <p:ext uri="{BB962C8B-B14F-4D97-AF65-F5344CB8AC3E}">
        <p14:creationId xmlns:p14="http://schemas.microsoft.com/office/powerpoint/2010/main" val="15806940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17-top-rule">
            <a:extLst xmlns:a="http://schemas.openxmlformats.org/drawingml/2006/main">
              <a:ext uri="{FF2B5EF4-FFF2-40B4-BE49-F238E27FC236}">
                <a16:creationId xmlns:a16="http://schemas.microsoft.com/office/drawing/2014/main" id="{46600C1B-A4AA-44D4-980C-56F0582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7-eyebrow">
            <a:extLst xmlns:a="http://schemas.openxmlformats.org/drawingml/2006/main">
              <a:ext uri="{FF2B5EF4-FFF2-40B4-BE49-F238E27FC236}">
                <a16:creationId xmlns:a16="http://schemas.microsoft.com/office/drawing/2014/main" id="{D4108D14-4E7E-479D-AB05-FF2A4133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Production Shape</a:t>
            </a:r>
          </a:p>
        </p:txBody>
      </p:sp>
      <p:sp>
        <p:nvSpPr>
          <p:cNvPr id="3" name="s17-slide-title">
            <a:extLst xmlns:a="http://schemas.openxmlformats.org/drawingml/2006/main">
              <a:ext uri="{FF2B5EF4-FFF2-40B4-BE49-F238E27FC236}">
                <a16:creationId xmlns:a16="http://schemas.microsoft.com/office/drawing/2014/main" id="{2F605D96-AAAA-4386-BC47-F0C4F337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The demo is intentionally not a production topology</a:t>
            </a:r>
          </a:p>
        </p:txBody>
      </p:sp>
      <p:sp>
        <p:nvSpPr>
          <p:cNvPr id="4" name="s17-db-panel">
            <a:extLst xmlns:a="http://schemas.openxmlformats.org/drawingml/2006/main">
              <a:ext uri="{FF2B5EF4-FFF2-40B4-BE49-F238E27FC236}">
                <a16:creationId xmlns:a16="http://schemas.microsoft.com/office/drawing/2014/main" id="{671C4284-5154-4C28-B544-89B56B50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" name="s17-db-rule">
            <a:extLst xmlns:a="http://schemas.openxmlformats.org/drawingml/2006/main">
              <a:ext uri="{FF2B5EF4-FFF2-40B4-BE49-F238E27FC236}">
                <a16:creationId xmlns:a16="http://schemas.microsoft.com/office/drawing/2014/main" id="{D630DBCE-76D2-4972-9883-9ACE874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9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7-db-heading">
            <a:extLst xmlns:a="http://schemas.openxmlformats.org/drawingml/2006/main">
              <a:ext uri="{FF2B5EF4-FFF2-40B4-BE49-F238E27FC236}">
                <a16:creationId xmlns:a16="http://schemas.microsoft.com/office/drawing/2014/main" id="{0E1F0960-1152-42C4-937E-3A9ADF6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7" name="s17-db-body">
            <a:extLst xmlns:a="http://schemas.openxmlformats.org/drawingml/2006/main">
              <a:ext uri="{FF2B5EF4-FFF2-40B4-BE49-F238E27FC236}">
                <a16:creationId xmlns:a16="http://schemas.microsoft.com/office/drawing/2014/main" id="{6A6070E2-E940-41E8-9AC7-8B8EFEE0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Use PostgreSQL or MySQL when operational scale, tooling, or availability requires it.</a:t>
            </a:r>
          </a:p>
        </p:txBody>
      </p:sp>
      <p:sp>
        <p:nvSpPr>
          <p:cNvPr id="8" name="s17-ingress-panel">
            <a:extLst xmlns:a="http://schemas.openxmlformats.org/drawingml/2006/main">
              <a:ext uri="{FF2B5EF4-FFF2-40B4-BE49-F238E27FC236}">
                <a16:creationId xmlns:a16="http://schemas.microsoft.com/office/drawing/2014/main" id="{FBE613A4-29C5-4EE8-BF19-DFFFD14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9550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17-ingress-rule">
            <a:extLst xmlns:a="http://schemas.openxmlformats.org/drawingml/2006/main">
              <a:ext uri="{FF2B5EF4-FFF2-40B4-BE49-F238E27FC236}">
                <a16:creationId xmlns:a16="http://schemas.microsoft.com/office/drawing/2014/main" id="{64C2FF53-A9ED-49CD-BA5D-ACE39411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95500"/>
            <a:ext cx="519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7-ingress-heading">
            <a:extLst xmlns:a="http://schemas.openxmlformats.org/drawingml/2006/main">
              <a:ext uri="{FF2B5EF4-FFF2-40B4-BE49-F238E27FC236}">
                <a16:creationId xmlns:a16="http://schemas.microsoft.com/office/drawing/2014/main" id="{950C3142-DCC5-4E8A-AFA2-AF5F289A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66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Ingress</a:t>
            </a:r>
          </a:p>
        </p:txBody>
      </p:sp>
      <p:sp>
        <p:nvSpPr>
          <p:cNvPr id="11" name="s17-ingress-body">
            <a:extLst xmlns:a="http://schemas.openxmlformats.org/drawingml/2006/main">
              <a:ext uri="{FF2B5EF4-FFF2-40B4-BE49-F238E27FC236}">
                <a16:creationId xmlns:a16="http://schemas.microsoft.com/office/drawing/2014/main" id="{69F2CADF-AFEA-4AD8-9D51-3A006C04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Terminate HTTPS at a reverse proxy and set ROOT_URL, domain, and SSH ports correctly.</a:t>
            </a:r>
          </a:p>
        </p:txBody>
      </p:sp>
      <p:sp>
        <p:nvSpPr>
          <p:cNvPr id="12" name="s17-identity-panel">
            <a:extLst xmlns:a="http://schemas.openxmlformats.org/drawingml/2006/main">
              <a:ext uri="{FF2B5EF4-FFF2-40B4-BE49-F238E27FC236}">
                <a16:creationId xmlns:a16="http://schemas.microsoft.com/office/drawing/2014/main" id="{2BE14DC2-683E-47A1-8E99-FFBC66C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s17-identity-rule">
            <a:extLst xmlns:a="http://schemas.openxmlformats.org/drawingml/2006/main">
              <a:ext uri="{FF2B5EF4-FFF2-40B4-BE49-F238E27FC236}">
                <a16:creationId xmlns:a16="http://schemas.microsoft.com/office/drawing/2014/main" id="{4F74967F-1F58-455B-AFBE-E0EF9D5F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9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7-identity-heading">
            <a:extLst xmlns:a="http://schemas.openxmlformats.org/drawingml/2006/main">
              <a:ext uri="{FF2B5EF4-FFF2-40B4-BE49-F238E27FC236}">
                <a16:creationId xmlns:a16="http://schemas.microsoft.com/office/drawing/2014/main" id="{FA468B91-419D-4585-B6F1-674E383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5" name="s17-identity-body">
            <a:extLst xmlns:a="http://schemas.openxmlformats.org/drawingml/2006/main">
              <a:ext uri="{FF2B5EF4-FFF2-40B4-BE49-F238E27FC236}">
                <a16:creationId xmlns:a16="http://schemas.microsoft.com/office/drawing/2014/main" id="{444A9CAD-49E4-4EE3-82A6-29FC38B7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Connect SMTP and your authentication provider; restrict registration and administrator access.</a:t>
            </a:r>
          </a:p>
        </p:txBody>
      </p:sp>
      <p:sp>
        <p:nvSpPr>
          <p:cNvPr id="16" name="s17-storage-panel">
            <a:extLst xmlns:a="http://schemas.openxmlformats.org/drawingml/2006/main">
              <a:ext uri="{FF2B5EF4-FFF2-40B4-BE49-F238E27FC236}">
                <a16:creationId xmlns:a16="http://schemas.microsoft.com/office/drawing/2014/main" id="{91BC4E36-0063-4EBF-BA0F-3CDB6265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s17-storage-rule">
            <a:extLst xmlns:a="http://schemas.openxmlformats.org/drawingml/2006/main">
              <a:ext uri="{FF2B5EF4-FFF2-40B4-BE49-F238E27FC236}">
                <a16:creationId xmlns:a16="http://schemas.microsoft.com/office/drawing/2014/main" id="{35F9979F-9004-4C9C-9341-5C8364DC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519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7-storage-heading">
            <a:extLst xmlns:a="http://schemas.openxmlformats.org/drawingml/2006/main">
              <a:ext uri="{FF2B5EF4-FFF2-40B4-BE49-F238E27FC236}">
                <a16:creationId xmlns:a16="http://schemas.microsoft.com/office/drawing/2014/main" id="{577B938C-CFAC-4F9B-A2CA-B9890728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71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19" name="s17-storage-body">
            <a:extLst xmlns:a="http://schemas.openxmlformats.org/drawingml/2006/main">
              <a:ext uri="{FF2B5EF4-FFF2-40B4-BE49-F238E27FC236}">
                <a16:creationId xmlns:a16="http://schemas.microsoft.com/office/drawing/2014/main" id="{F28031C9-E761-4031-89AE-844DA9F8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4820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Plan capacity for repositories, LFS, attachments, Actions artifacts, packages, and backups.</a:t>
            </a:r>
          </a:p>
        </p:txBody>
      </p:sp>
    </p:spTree>
    <p:extLst>
      <p:ext uri="{BB962C8B-B14F-4D97-AF65-F5344CB8AC3E}">
        <p14:creationId xmlns:p14="http://schemas.microsoft.com/office/powerpoint/2010/main" val="20370432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18-top-rule">
            <a:extLst xmlns:a="http://schemas.openxmlformats.org/drawingml/2006/main">
              <a:ext uri="{FF2B5EF4-FFF2-40B4-BE49-F238E27FC236}">
                <a16:creationId xmlns:a16="http://schemas.microsoft.com/office/drawing/2014/main" id="{84AEEBEC-9E3A-49C3-AE89-086B78EA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8-eyebrow">
            <a:extLst xmlns:a="http://schemas.openxmlformats.org/drawingml/2006/main">
              <a:ext uri="{FF2B5EF4-FFF2-40B4-BE49-F238E27FC236}">
                <a16:creationId xmlns:a16="http://schemas.microsoft.com/office/drawing/2014/main" id="{FA474F06-C923-4225-9F48-F31757F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3" name="s18-slide-title">
            <a:extLst xmlns:a="http://schemas.openxmlformats.org/drawingml/2006/main">
              <a:ext uri="{FF2B5EF4-FFF2-40B4-BE49-F238E27FC236}">
                <a16:creationId xmlns:a16="http://schemas.microsoft.com/office/drawing/2014/main" id="{266822AE-5244-47D2-B769-08A2C753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A backup is complete only when database and files agree</a:t>
            </a:r>
          </a:p>
        </p:txBody>
      </p:sp>
      <p:sp>
        <p:nvSpPr>
          <p:cNvPr id="4" name="s18-bullets">
            <a:extLst xmlns:a="http://schemas.openxmlformats.org/drawingml/2006/main">
              <a:ext uri="{FF2B5EF4-FFF2-40B4-BE49-F238E27FC236}">
                <a16:creationId xmlns:a16="http://schemas.microsoft.com/office/drawing/2014/main" id="{9757A5F5-CA02-4DC0-9532-4D32B99C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1912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2"/>
              </a:spcAft>
              <a:buNone/>
              <a:defRPr sz="17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Stop writes or take a consistent snapshot.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2"/>
              </a:spcAft>
              <a:buNone/>
              <a:defRPr sz="17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Back up configuration and secrets.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2"/>
              </a:spcAft>
              <a:buNone/>
              <a:defRPr sz="17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Back up repositories, LFS, packages, and Actions data.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2"/>
              </a:spcAft>
              <a:buNone/>
              <a:defRPr sz="17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Back up the database with native tooling.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2"/>
              </a:spcAft>
              <a:buNone/>
              <a:defRPr sz="17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Restore into a test instance regularly.</a:t>
            </a:r>
          </a:p>
        </p:txBody>
      </p:sp>
      <p:sp>
        <p:nvSpPr>
          <p:cNvPr id="5" name="s18-upgrade-panel">
            <a:extLst xmlns:a="http://schemas.openxmlformats.org/drawingml/2006/main">
              <a:ext uri="{FF2B5EF4-FFF2-40B4-BE49-F238E27FC236}">
                <a16:creationId xmlns:a16="http://schemas.microsoft.com/office/drawing/2014/main" id="{03787108-3F87-4858-AADD-0ED9F6B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3714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6" name="s18-upgrade-rule">
            <a:extLst xmlns:a="http://schemas.openxmlformats.org/drawingml/2006/main">
              <a:ext uri="{FF2B5EF4-FFF2-40B4-BE49-F238E27FC236}">
                <a16:creationId xmlns:a16="http://schemas.microsoft.com/office/drawing/2014/main" id="{D431327A-4504-46BC-9393-CEBFF25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18-upgrade-heading">
            <a:extLst xmlns:a="http://schemas.openxmlformats.org/drawingml/2006/main">
              <a:ext uri="{FF2B5EF4-FFF2-40B4-BE49-F238E27FC236}">
                <a16:creationId xmlns:a16="http://schemas.microsoft.com/office/drawing/2014/main" id="{41423BE8-19CD-4E66-BE18-07AC87A1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Upgrade sequence</a:t>
            </a:r>
          </a:p>
        </p:txBody>
      </p:sp>
      <p:sp>
        <p:nvSpPr>
          <p:cNvPr id="8" name="s18-upgrade-body">
            <a:extLst xmlns:a="http://schemas.openxmlformats.org/drawingml/2006/main">
              <a:ext uri="{FF2B5EF4-FFF2-40B4-BE49-F238E27FC236}">
                <a16:creationId xmlns:a16="http://schemas.microsoft.com/office/drawing/2014/main" id="{EBA7B5A4-B321-4953-857E-AEFABA6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81325"/>
            <a:ext cx="33337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Read release notes → stage the new version → stop → back up → change the pinned image tag → start → verify migrations and core workflows.</a:t>
            </a:r>
          </a:p>
        </p:txBody>
      </p:sp>
      <p:sp>
        <p:nvSpPr>
          <p:cNvPr id="9" name="s18-source">
            <a:extLst xmlns:a="http://schemas.openxmlformats.org/drawingml/2006/main">
              <a:ext uri="{FF2B5EF4-FFF2-40B4-BE49-F238E27FC236}">
                <a16:creationId xmlns:a16="http://schemas.microsoft.com/office/drawing/2014/main" id="{6D5EB93F-1919-49A7-B9D9-9B2C158F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Sources: Gitea Backup and Restore; Upgrade from an old Gitea.</a:t>
            </a:r>
          </a:p>
        </p:txBody>
      </p:sp>
    </p:spTree>
    <p:extLst>
      <p:ext uri="{BB962C8B-B14F-4D97-AF65-F5344CB8AC3E}">
        <p14:creationId xmlns:p14="http://schemas.microsoft.com/office/powerpoint/2010/main" val="9355522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19-top-rule">
            <a:extLst xmlns:a="http://schemas.openxmlformats.org/drawingml/2006/main">
              <a:ext uri="{FF2B5EF4-FFF2-40B4-BE49-F238E27FC236}">
                <a16:creationId xmlns:a16="http://schemas.microsoft.com/office/drawing/2014/main" id="{4679FB92-C147-4480-A4D3-2EACD06D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9-eyebrow">
            <a:extLst xmlns:a="http://schemas.openxmlformats.org/drawingml/2006/main">
              <a:ext uri="{FF2B5EF4-FFF2-40B4-BE49-F238E27FC236}">
                <a16:creationId xmlns:a16="http://schemas.microsoft.com/office/drawing/2014/main" id="{9A4FE92E-7C3B-419D-8188-50E21C10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Security Baseline</a:t>
            </a:r>
          </a:p>
        </p:txBody>
      </p:sp>
      <p:sp>
        <p:nvSpPr>
          <p:cNvPr id="3" name="s19-slide-title">
            <a:extLst xmlns:a="http://schemas.openxmlformats.org/drawingml/2006/main">
              <a:ext uri="{FF2B5EF4-FFF2-40B4-BE49-F238E27FC236}">
                <a16:creationId xmlns:a16="http://schemas.microsoft.com/office/drawing/2014/main" id="{C64CC93C-78B3-48F4-A882-BD69B312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Self-hosting moves responsibility to the operator</a:t>
            </a:r>
          </a:p>
        </p:txBody>
      </p:sp>
      <p:sp>
        <p:nvSpPr>
          <p:cNvPr id="4" name="s19-bullets">
            <a:extLst xmlns:a="http://schemas.openxmlformats.org/drawingml/2006/main">
              <a:ext uri="{FF2B5EF4-FFF2-40B4-BE49-F238E27FC236}">
                <a16:creationId xmlns:a16="http://schemas.microsoft.com/office/drawing/2014/main" id="{26EE9274-0A14-469B-8832-E84334EF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0"/>
              </a:spcAft>
              <a:buNone/>
              <a:defRPr sz="165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Pin versions and apply security releases promptly.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0"/>
              </a:spcAft>
              <a:buNone/>
              <a:defRPr sz="165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Use HTTPS, secure cookies, and a trusted reverse proxy configuration.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0"/>
              </a:spcAft>
              <a:buNone/>
              <a:defRPr sz="165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Require 2FA where appropriate; use scoped tokens for automation.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0"/>
              </a:spcAft>
              <a:buNone/>
              <a:defRPr sz="165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Protect default branches and restrict force pushes.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0"/>
              </a:spcAft>
              <a:buNone/>
              <a:defRPr sz="165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Isolate Actions runners and treat pull-request code as untrusted.</a:t>
            </a:r>
          </a:p>
          <a:p xmlns:a="http://schemas.openxmlformats.org/drawingml/2006/main">
            <a:pPr marL="28" indent="-16" algn="l">
              <a:lnSpc>
                <a:spcPct val="112000"/>
              </a:lnSpc>
              <a:spcAft>
                <a:spcPts val="10"/>
              </a:spcAft>
              <a:buNone/>
              <a:defRPr sz="1650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Monitor logs, storage growth, failed jobs, and backup freshness.</a:t>
            </a:r>
          </a:p>
        </p:txBody>
      </p:sp>
    </p:spTree>
    <p:extLst>
      <p:ext uri="{BB962C8B-B14F-4D97-AF65-F5344CB8AC3E}">
        <p14:creationId xmlns:p14="http://schemas.microsoft.com/office/powerpoint/2010/main" val="2756622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20-top-rule">
            <a:extLst xmlns:a="http://schemas.openxmlformats.org/drawingml/2006/main">
              <a:ext uri="{FF2B5EF4-FFF2-40B4-BE49-F238E27FC236}">
                <a16:creationId xmlns:a16="http://schemas.microsoft.com/office/drawing/2014/main" id="{702AC8EE-B58F-4DE5-838A-6A2F52BF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20-eyebrow">
            <a:extLst xmlns:a="http://schemas.openxmlformats.org/drawingml/2006/main">
              <a:ext uri="{FF2B5EF4-FFF2-40B4-BE49-F238E27FC236}">
                <a16:creationId xmlns:a16="http://schemas.microsoft.com/office/drawing/2014/main" id="{100F2BA3-FD33-4713-9442-02A250B2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Practical Exercise</a:t>
            </a:r>
          </a:p>
        </p:txBody>
      </p:sp>
      <p:sp>
        <p:nvSpPr>
          <p:cNvPr id="3" name="s20-slide-title">
            <a:extLst xmlns:a="http://schemas.openxmlformats.org/drawingml/2006/main">
              <a:ext uri="{FF2B5EF4-FFF2-40B4-BE49-F238E27FC236}">
                <a16:creationId xmlns:a16="http://schemas.microsoft.com/office/drawing/2014/main" id="{D9A2E7D2-F481-4F81-9408-6BFE287F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Complete the loop yourself</a:t>
            </a:r>
          </a:p>
        </p:txBody>
      </p:sp>
      <p:sp>
        <p:nvSpPr>
          <p:cNvPr id="4" name="s20-bullets">
            <a:extLst xmlns:a="http://schemas.openxmlformats.org/drawingml/2006/main">
              <a:ext uri="{FF2B5EF4-FFF2-40B4-BE49-F238E27FC236}">
                <a16:creationId xmlns:a16="http://schemas.microsoft.com/office/drawing/2014/main" id="{8A153E77-5548-444B-A481-26FED6A9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906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spcAft>
                <a:spcPts val="14"/>
              </a:spcAft>
              <a:buNone/>
              <a:defRPr sz="20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1.  Create an issue: “Add a greeting.”</a:t>
            </a:r>
          </a:p>
          <a:p xmlns:a="http://schemas.openxmlformats.org/drawingml/2006/main">
            <a:pPr marL="0" indent="0" algn="l">
              <a:lnSpc>
                <a:spcPct val="112000"/>
              </a:lnSpc>
              <a:spcAft>
                <a:spcPts val="14"/>
              </a:spcAft>
              <a:buNone/>
              <a:defRPr sz="20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2.  Create a branch, commit a file, and push it.</a:t>
            </a:r>
          </a:p>
          <a:p xmlns:a="http://schemas.openxmlformats.org/drawingml/2006/main">
            <a:pPr marL="0" indent="0" algn="l">
              <a:lnSpc>
                <a:spcPct val="112000"/>
              </a:lnSpc>
              <a:spcAft>
                <a:spcPts val="14"/>
              </a:spcAft>
              <a:buNone/>
              <a:defRPr sz="20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3.  Open a pull request that closes the issue.</a:t>
            </a:r>
          </a:p>
          <a:p xmlns:a="http://schemas.openxmlformats.org/drawingml/2006/main">
            <a:pPr marL="0" indent="0" algn="l">
              <a:lnSpc>
                <a:spcPct val="112000"/>
              </a:lnSpc>
              <a:spcAft>
                <a:spcPts val="14"/>
              </a:spcAft>
              <a:buNone/>
              <a:defRPr sz="20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4.  Review the diff and merge it.</a:t>
            </a:r>
          </a:p>
          <a:p xmlns:a="http://schemas.openxmlformats.org/drawingml/2006/main">
            <a:pPr marL="0" indent="0" algn="l">
              <a:lnSpc>
                <a:spcPct val="112000"/>
              </a:lnSpc>
              <a:spcAft>
                <a:spcPts val="14"/>
              </a:spcAft>
              <a:buNone/>
              <a:defRPr sz="2025" b="0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026"/>
                </a:solidFill>
                <a:latin typeface="Aptos"/>
                <a:ea typeface="Aptos"/>
                <a:cs typeface="Aptos"/>
              </a:rPr>
              <a:t>5.  Protect main, then prove a direct push is rejected.</a:t>
            </a:r>
          </a:p>
        </p:txBody>
      </p:sp>
      <p:sp>
        <p:nvSpPr>
          <p:cNvPr id="5" name="s20-stretch">
            <a:extLst xmlns:a="http://schemas.openxmlformats.org/drawingml/2006/main">
              <a:ext uri="{FF2B5EF4-FFF2-40B4-BE49-F238E27FC236}">
                <a16:creationId xmlns:a16="http://schemas.microsoft.com/office/drawing/2014/main" id="{928C4E89-FF7D-4278-B01A-A95DF601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67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Stretch: add the Actions workflow and require its status check.</a:t>
            </a:r>
          </a:p>
        </p:txBody>
      </p:sp>
    </p:spTree>
    <p:extLst>
      <p:ext uri="{BB962C8B-B14F-4D97-AF65-F5344CB8AC3E}">
        <p14:creationId xmlns:p14="http://schemas.microsoft.com/office/powerpoint/2010/main" val="15739036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21-top-rule">
            <a:extLst xmlns:a="http://schemas.openxmlformats.org/drawingml/2006/main">
              <a:ext uri="{FF2B5EF4-FFF2-40B4-BE49-F238E27FC236}">
                <a16:creationId xmlns:a16="http://schemas.microsoft.com/office/drawing/2014/main" id="{4B72881C-B624-4FF4-AB09-6E6CA1C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21-eyebrow">
            <a:extLst xmlns:a="http://schemas.openxmlformats.org/drawingml/2006/main">
              <a:ext uri="{FF2B5EF4-FFF2-40B4-BE49-F238E27FC236}">
                <a16:creationId xmlns:a16="http://schemas.microsoft.com/office/drawing/2014/main" id="{9FB2C53D-28F8-48DE-8662-EF5AE2F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" name="s21-slide-title">
            <a:extLst xmlns:a="http://schemas.openxmlformats.org/drawingml/2006/main">
              <a:ext uri="{FF2B5EF4-FFF2-40B4-BE49-F238E27FC236}">
                <a16:creationId xmlns:a16="http://schemas.microsoft.com/office/drawing/2014/main" id="{FCF20D80-69E7-4354-98D6-00255D3E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Gitea fits when ownership matters more than outsourcing the forge</a:t>
            </a:r>
          </a:p>
        </p:txBody>
      </p:sp>
      <p:sp>
        <p:nvSpPr>
          <p:cNvPr id="4" name="s21-fit-panel">
            <a:extLst xmlns:a="http://schemas.openxmlformats.org/drawingml/2006/main">
              <a:ext uri="{FF2B5EF4-FFF2-40B4-BE49-F238E27FC236}">
                <a16:creationId xmlns:a16="http://schemas.microsoft.com/office/drawing/2014/main" id="{D4A3D497-B121-422A-A2B5-0B732FD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" name="s21-fit-rule">
            <a:extLst xmlns:a="http://schemas.openxmlformats.org/drawingml/2006/main">
              <a:ext uri="{FF2B5EF4-FFF2-40B4-BE49-F238E27FC236}">
                <a16:creationId xmlns:a16="http://schemas.microsoft.com/office/drawing/2014/main" id="{A9BA2EFF-29AD-4D2F-A08A-A11F22B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1-fit-heading">
            <a:extLst xmlns:a="http://schemas.openxmlformats.org/drawingml/2006/main">
              <a:ext uri="{FF2B5EF4-FFF2-40B4-BE49-F238E27FC236}">
                <a16:creationId xmlns:a16="http://schemas.microsoft.com/office/drawing/2014/main" id="{01D00B97-7343-4493-B903-B788CCB1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Strong fit</a:t>
            </a:r>
          </a:p>
        </p:txBody>
      </p:sp>
      <p:sp>
        <p:nvSpPr>
          <p:cNvPr id="7" name="s21-fit-body">
            <a:extLst xmlns:a="http://schemas.openxmlformats.org/drawingml/2006/main">
              <a:ext uri="{FF2B5EF4-FFF2-40B4-BE49-F238E27FC236}">
                <a16:creationId xmlns:a16="http://schemas.microsoft.com/office/drawing/2014/main" id="{F08363A3-626F-4959-845E-C9B3AAC6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4762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• Self-hosting and data control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• Familiar GitHub-like workflow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• Small operational footprint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• Integrated packages and CI</a:t>
            </a:r>
          </a:p>
        </p:txBody>
      </p:sp>
      <p:sp>
        <p:nvSpPr>
          <p:cNvPr id="8" name="s21-cost-panel">
            <a:extLst xmlns:a="http://schemas.openxmlformats.org/drawingml/2006/main">
              <a:ext uri="{FF2B5EF4-FFF2-40B4-BE49-F238E27FC236}">
                <a16:creationId xmlns:a16="http://schemas.microsoft.com/office/drawing/2014/main" id="{6BC885FB-F3B6-4A43-B799-36FC0F3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21-cost-rule">
            <a:extLst xmlns:a="http://schemas.openxmlformats.org/drawingml/2006/main">
              <a:ext uri="{FF2B5EF4-FFF2-40B4-BE49-F238E27FC236}">
                <a16:creationId xmlns:a16="http://schemas.microsoft.com/office/drawing/2014/main" id="{7A05EF1F-9C6A-4860-BEC0-D4DDFBD9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1-cost-heading">
            <a:extLst xmlns:a="http://schemas.openxmlformats.org/drawingml/2006/main">
              <a:ext uri="{FF2B5EF4-FFF2-40B4-BE49-F238E27FC236}">
                <a16:creationId xmlns:a16="http://schemas.microsoft.com/office/drawing/2014/main" id="{E8B2FCEC-8116-4ADE-9E62-4F55AA54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98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Count the cost</a:t>
            </a:r>
          </a:p>
        </p:txBody>
      </p:sp>
      <p:sp>
        <p:nvSpPr>
          <p:cNvPr id="11" name="s21-cost-body">
            <a:extLst xmlns:a="http://schemas.openxmlformats.org/drawingml/2006/main">
              <a:ext uri="{FF2B5EF4-FFF2-40B4-BE49-F238E27FC236}">
                <a16:creationId xmlns:a16="http://schemas.microsoft.com/office/drawing/2014/main" id="{9609B9E1-3F8A-42F0-80E2-A3F0491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4762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• Upgrades, security, backups, and monitoring are yours.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• Actions compatibility is broad, not identical to GitHub Actions.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• High availability and large installations need deliberate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845967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22-top-rule">
            <a:extLst xmlns:a="http://schemas.openxmlformats.org/drawingml/2006/main">
              <a:ext uri="{FF2B5EF4-FFF2-40B4-BE49-F238E27FC236}">
                <a16:creationId xmlns:a16="http://schemas.microsoft.com/office/drawing/2014/main" id="{34D266F9-F6BA-469F-A41D-C3E3478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22-date">
            <a:extLst xmlns:a="http://schemas.openxmlformats.org/drawingml/2006/main">
              <a:ext uri="{FF2B5EF4-FFF2-40B4-BE49-F238E27FC236}">
                <a16:creationId xmlns:a16="http://schemas.microsoft.com/office/drawing/2014/main" id="{2450CBCF-F3B4-428A-916F-4F677BEA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  <p:sp>
        <p:nvSpPr>
          <p:cNvPr id="3" name="s22-title">
            <a:extLst xmlns:a="http://schemas.openxmlformats.org/drawingml/2006/main">
              <a:ext uri="{FF2B5EF4-FFF2-40B4-BE49-F238E27FC236}">
                <a16:creationId xmlns:a16="http://schemas.microsoft.com/office/drawing/2014/main" id="{5BFA21D5-BC49-4F38-924F-A51A001A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Own the forge</a:t>
            </a:r>
          </a:p>
        </p:txBody>
      </p:sp>
      <p:sp>
        <p:nvSpPr>
          <p:cNvPr id="4" name="s22-subtitle">
            <a:extLst xmlns:a="http://schemas.openxmlformats.org/drawingml/2006/main">
              <a:ext uri="{FF2B5EF4-FFF2-40B4-BE49-F238E27FC236}">
                <a16:creationId xmlns:a16="http://schemas.microsoft.com/office/drawing/2014/main" id="{324E3F73-7703-45A4-87C2-102549F5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96169"/>
                </a:solidFill>
                <a:latin typeface="Aptos"/>
                <a:ea typeface="Aptos"/>
                <a:cs typeface="Aptos"/>
              </a:rPr>
              <a:t>Keep the workflow familiar.</a:t>
            </a:r>
          </a:p>
        </p:txBody>
      </p:sp>
      <p:sp>
        <p:nvSpPr>
          <p:cNvPr id="5" name="s22-name">
            <a:extLst xmlns:a="http://schemas.openxmlformats.org/drawingml/2006/main">
              <a:ext uri="{FF2B5EF4-FFF2-40B4-BE49-F238E27FC236}">
                <a16:creationId xmlns:a16="http://schemas.microsoft.com/office/drawing/2014/main" id="{5DC9B54E-C118-45F4-843D-C496CDB7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Patrick Stein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c352c367f46d3"/>
          <a:stretch xmlns:a="http://schemas.openxmlformats.org/drawingml/2006/main"/>
        </p:blipFill>
        <p:spPr>
          <a:xfrm xmlns:a="http://schemas.openxmlformats.org/drawingml/2006/main">
            <a:off x="8334375" y="2143125"/>
            <a:ext cx="2190750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156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23-top-rule">
            <a:extLst xmlns:a="http://schemas.openxmlformats.org/drawingml/2006/main">
              <a:ext uri="{FF2B5EF4-FFF2-40B4-BE49-F238E27FC236}">
                <a16:creationId xmlns:a16="http://schemas.microsoft.com/office/drawing/2014/main" id="{4AD948E5-C44A-498E-BCE1-FD240E44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23-eyebrow">
            <a:extLst xmlns:a="http://schemas.openxmlformats.org/drawingml/2006/main">
              <a:ext uri="{FF2B5EF4-FFF2-40B4-BE49-F238E27FC236}">
                <a16:creationId xmlns:a16="http://schemas.microsoft.com/office/drawing/2014/main" id="{2922B072-65D5-4A44-BEB2-11370C8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3" name="s23-slide-title">
            <a:extLst xmlns:a="http://schemas.openxmlformats.org/drawingml/2006/main">
              <a:ext uri="{FF2B5EF4-FFF2-40B4-BE49-F238E27FC236}">
                <a16:creationId xmlns:a16="http://schemas.microsoft.com/office/drawing/2014/main" id="{55C99B05-B4B8-46A1-ACDB-A7CEB27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Official Gitea documentation used in this deck</a:t>
            </a:r>
          </a:p>
        </p:txBody>
      </p:sp>
      <p:sp>
        <p:nvSpPr>
          <p:cNvPr id="4" name="s23-refs1-panel">
            <a:extLst xmlns:a="http://schemas.openxmlformats.org/drawingml/2006/main">
              <a:ext uri="{FF2B5EF4-FFF2-40B4-BE49-F238E27FC236}">
                <a16:creationId xmlns:a16="http://schemas.microsoft.com/office/drawing/2014/main" id="{66CE4310-2BC5-4EB5-A71A-FEFDDD5F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2387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" name="s23-refs1-rule">
            <a:extLst xmlns:a="http://schemas.openxmlformats.org/drawingml/2006/main">
              <a:ext uri="{FF2B5EF4-FFF2-40B4-BE49-F238E27FC236}">
                <a16:creationId xmlns:a16="http://schemas.microsoft.com/office/drawing/2014/main" id="{0C2908DD-D9F0-46F7-B037-90894321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3-refs1-heading">
            <a:extLst xmlns:a="http://schemas.openxmlformats.org/drawingml/2006/main">
              <a:ext uri="{FF2B5EF4-FFF2-40B4-BE49-F238E27FC236}">
                <a16:creationId xmlns:a16="http://schemas.microsoft.com/office/drawing/2014/main" id="{A0BB5FBB-6718-491F-9D8E-BE5B57B7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Core workflow</a:t>
            </a:r>
          </a:p>
        </p:txBody>
      </p:sp>
      <p:sp>
        <p:nvSpPr>
          <p:cNvPr id="7" name="s23-refs1-body">
            <a:extLst xmlns:a="http://schemas.openxmlformats.org/drawingml/2006/main">
              <a:ext uri="{FF2B5EF4-FFF2-40B4-BE49-F238E27FC236}">
                <a16:creationId xmlns:a16="http://schemas.microsoft.com/office/drawing/2014/main" id="{1E69DED7-613E-4D51-AAE5-74B6E4F3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48577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What is Gitea?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Installation with containers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docs.gitea.com/1.26/installation/install-with-docker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Pull requests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docs.gitea.com/usage/pull-request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Protected branches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docs.gitea.com/usage/access-control/protected-branches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Actions quick start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docs.gitea.com/usage/actions/quickstart</a:t>
            </a:r>
          </a:p>
        </p:txBody>
      </p:sp>
      <p:sp>
        <p:nvSpPr>
          <p:cNvPr id="8" name="s23-refs2-panel">
            <a:extLst xmlns:a="http://schemas.openxmlformats.org/drawingml/2006/main">
              <a:ext uri="{FF2B5EF4-FFF2-40B4-BE49-F238E27FC236}">
                <a16:creationId xmlns:a16="http://schemas.microsoft.com/office/drawing/2014/main" id="{0A57E25F-ED44-4AB7-BEF2-D6CCF23E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52387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9" name="s23-refs2-rule">
            <a:extLst xmlns:a="http://schemas.openxmlformats.org/drawingml/2006/main">
              <a:ext uri="{FF2B5EF4-FFF2-40B4-BE49-F238E27FC236}">
                <a16:creationId xmlns:a16="http://schemas.microsoft.com/office/drawing/2014/main" id="{3A870865-F3C4-48E7-88A3-D0F24DF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3-refs2-heading">
            <a:extLst xmlns:a="http://schemas.openxmlformats.org/drawingml/2006/main">
              <a:ext uri="{FF2B5EF4-FFF2-40B4-BE49-F238E27FC236}">
                <a16:creationId xmlns:a16="http://schemas.microsoft.com/office/drawing/2014/main" id="{1661A974-F54C-406A-ACE0-40E9F829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335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Automation and operations</a:t>
            </a:r>
          </a:p>
        </p:txBody>
      </p:sp>
      <p:sp>
        <p:nvSpPr>
          <p:cNvPr id="11" name="s23-refs2-body">
            <a:extLst xmlns:a="http://schemas.openxmlformats.org/drawingml/2006/main">
              <a:ext uri="{FF2B5EF4-FFF2-40B4-BE49-F238E27FC236}">
                <a16:creationId xmlns:a16="http://schemas.microsoft.com/office/drawing/2014/main" id="{5A38D066-7DAE-4019-9F55-E493A9CB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9825"/>
            <a:ext cx="48577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Actions token permissions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docs.gitea.com/usage/actions/token-permissions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Package registry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docs.gitea.com/usage/packages/overview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Generic packages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docs.gitea.com/usage/packages/generic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Backup and restore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docs.gitea.com/administration/backup-and-restore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Upgrade guide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961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9"/>
                </a:solidFill>
                <a:latin typeface="Aptos"/>
                <a:ea typeface="Aptos"/>
                <a:cs typeface="Aptos"/>
              </a:rPr>
              <a:t>docs.gitea.com/installation/upgrade-from-gitea</a:t>
            </a:r>
          </a:p>
        </p:txBody>
      </p:sp>
    </p:spTree>
    <p:extLst>
      <p:ext uri="{BB962C8B-B14F-4D97-AF65-F5344CB8AC3E}">
        <p14:creationId xmlns:p14="http://schemas.microsoft.com/office/powerpoint/2010/main" val="735152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2026-07-18T19:11:07.6780000Z</dcterms:created>
  <dcterms:modified xsi:type="dcterms:W3CDTF">2026-07-18T19:11:07.6780000Z</dcterms:modified>
</coreProperties>
</file>